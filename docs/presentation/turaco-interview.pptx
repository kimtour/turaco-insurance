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cd78b543a84d7f" /><Relationship Type="http://schemas.openxmlformats.org/officeDocument/2006/relationships/extended-properties" Target="/docProps/app.xml" Id="R992c32fd6caa4d6f" /><Relationship Type="http://schemas.openxmlformats.org/officeDocument/2006/relationships/officeDocument" Target="/ppt/presentation.xml" Id="R3b9ab949c42c421b" /></Relationships>
</file>

<file path=ppt/presentation.xml><?xml version="1.0" encoding="utf-8"?>
<p:presentation xmlns:p="http://schemas.openxmlformats.org/presentationml/2006/main">
  <p:sldMasterIdLst>
    <p:sldMasterId xmlns:r="http://schemas.openxmlformats.org/officeDocument/2006/relationships" id="2147483648" r:id="Rec5751f3e9494c1d"/>
  </p:sldMasterIdLst>
  <p:notesMasterIdLst>
    <p:notesMasterId xmlns:r="http://schemas.openxmlformats.org/officeDocument/2006/relationships" r:id="Refb8af1b354d4f9c"/>
  </p:notesMasterIdLst>
  <p:sldIdLst>
    <p:sldId xmlns:r="http://schemas.openxmlformats.org/officeDocument/2006/relationships" id="256" r:id="R8abd6738868d49a3"/>
    <p:sldId xmlns:r="http://schemas.openxmlformats.org/officeDocument/2006/relationships" id="257" r:id="R1d6d566d3cd14e64"/>
    <p:sldId xmlns:r="http://schemas.openxmlformats.org/officeDocument/2006/relationships" id="258" r:id="R3714252fab104c78"/>
    <p:sldId xmlns:r="http://schemas.openxmlformats.org/officeDocument/2006/relationships" id="259" r:id="Rfd530bf16f0c43b9"/>
    <p:sldId xmlns:r="http://schemas.openxmlformats.org/officeDocument/2006/relationships" id="260" r:id="Rfd47907c0ca949a9"/>
    <p:sldId xmlns:r="http://schemas.openxmlformats.org/officeDocument/2006/relationships" id="261" r:id="R980067117c764007"/>
    <p:sldId xmlns:r="http://schemas.openxmlformats.org/officeDocument/2006/relationships" id="262" r:id="R7420b3def6944ed3"/>
    <p:sldId xmlns:r="http://schemas.openxmlformats.org/officeDocument/2006/relationships" id="263" r:id="R9b2f0c43a5a64dc3"/>
    <p:sldId xmlns:r="http://schemas.openxmlformats.org/officeDocument/2006/relationships" id="264" r:id="R13c4a58afec44c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cb139c4f784469" /><Relationship Type="http://schemas.openxmlformats.org/officeDocument/2006/relationships/slideMaster" Target="/ppt/slideMasters/slideMaster1.xml" Id="Rec5751f3e9494c1d" /><Relationship Type="http://schemas.openxmlformats.org/officeDocument/2006/relationships/notesMaster" Target="/ppt/notesMasters/notesMaster1.xml" Id="Refb8af1b354d4f9c" /><Relationship Type="http://schemas.openxmlformats.org/officeDocument/2006/relationships/presProps" Target="/ppt/presProps.xml" Id="R308aca2b60d6458f" /><Relationship Type="http://schemas.openxmlformats.org/officeDocument/2006/relationships/tableStyles" Target="/ppt/tableStyles.xml" Id="R6d2d4f27a1e947f2" /><Relationship Type="http://schemas.openxmlformats.org/officeDocument/2006/relationships/slide" Target="/ppt/slides/slide1.xml" Id="R8abd6738868d49a3" /><Relationship Type="http://schemas.openxmlformats.org/officeDocument/2006/relationships/slide" Target="/ppt/slides/slide2.xml" Id="R1d6d566d3cd14e64" /><Relationship Type="http://schemas.openxmlformats.org/officeDocument/2006/relationships/slide" Target="/ppt/slides/slide3.xml" Id="R3714252fab104c78" /><Relationship Type="http://schemas.openxmlformats.org/officeDocument/2006/relationships/slide" Target="/ppt/slides/slide4.xml" Id="Rfd530bf16f0c43b9" /><Relationship Type="http://schemas.openxmlformats.org/officeDocument/2006/relationships/slide" Target="/ppt/slides/slide5.xml" Id="Rfd47907c0ca949a9" /><Relationship Type="http://schemas.openxmlformats.org/officeDocument/2006/relationships/slide" Target="/ppt/slides/slide6.xml" Id="R980067117c764007" /><Relationship Type="http://schemas.openxmlformats.org/officeDocument/2006/relationships/slide" Target="/ppt/slides/slide7.xml" Id="R7420b3def6944ed3" /><Relationship Type="http://schemas.openxmlformats.org/officeDocument/2006/relationships/slide" Target="/ppt/slides/slide8.xml" Id="R9b2f0c43a5a64dc3" /><Relationship Type="http://schemas.openxmlformats.org/officeDocument/2006/relationships/slide" Target="/ppt/slides/slide9.xml" Id="R13c4a58afec44c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fd6bcf439942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e7279cc43747c4" /><Relationship Type="http://schemas.openxmlformats.org/officeDocument/2006/relationships/notesMaster" Target="/ppt/notesMasters/notesMaster1.xml" Id="Recc8f24f472242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1055e8ac0a4398" /><Relationship Type="http://schemas.openxmlformats.org/officeDocument/2006/relationships/notesMaster" Target="/ppt/notesMasters/notesMaster1.xml" Id="Rc908ba10deac40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0283517e9249f8" /><Relationship Type="http://schemas.openxmlformats.org/officeDocument/2006/relationships/notesMaster" Target="/ppt/notesMasters/notesMaster1.xml" Id="R223e677c28c044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278c703424414d" /><Relationship Type="http://schemas.openxmlformats.org/officeDocument/2006/relationships/notesMaster" Target="/ppt/notesMasters/notesMaster1.xml" Id="R81bc26c8e7cc48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69cdcb60e74951" /><Relationship Type="http://schemas.openxmlformats.org/officeDocument/2006/relationships/notesMaster" Target="/ppt/notesMasters/notesMaster1.xml" Id="Rf528d082e34049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88af23416648ab" /><Relationship Type="http://schemas.openxmlformats.org/officeDocument/2006/relationships/notesMaster" Target="/ppt/notesMasters/notesMaster1.xml" Id="R3cc58f1ea1f54a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656c9e3935449bc" /><Relationship Type="http://schemas.openxmlformats.org/officeDocument/2006/relationships/notesMaster" Target="/ppt/notesMasters/notesMaster1.xml" Id="R9ebee682813d45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dd6de46a7e4f05" /><Relationship Type="http://schemas.openxmlformats.org/officeDocument/2006/relationships/notesMaster" Target="/ppt/notesMasters/notesMaster1.xml" Id="R7f28b6b477ff48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f860b668654d38" /><Relationship Type="http://schemas.openxmlformats.org/officeDocument/2006/relationships/notesMaster" Target="/ppt/notesMasters/notesMaster1.xml" Id="Rfb9fc58c2bce4f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project, not an official Turaco system. All customers, policy terms and transfers are invented. Open the presentation hub in a second tab before starting. Allow about 10 minutes including the live demo. Source: README.md and docs/cloud-presentation.md.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failure cases before the technology. Confirmation is invalidated by material corrections. Evidence conflicts require human resolution. An uncertain payout must be reconciled against an authoritative receipt before another transfer is considered. Source: docs/architecture.md and docs/threat-model.md.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dashboard port 5173 is public. Identity administration and database ports remain private. The gateway forwards requests to the existing stack rather than replacing it with a Worker simulation. Docker builds and Kubernetes checks also run in CI. Source: .devcontainer/compose.cloud.yaml, infrastructure/cloudflare/src/worker.js and docs/cloud-presentation.md.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fresh claim for the live sequence. Enter a different synthetic evidence reference for confirmation and assisted verification. The reference clears after each success. A paid claim cannot be confirmed again. If an action returns 409, the UI refreshes the claim and shows the failure beside the controls. Source: apps/claims-dashboard/src/main.jsx and docs/cloud-presentation.md.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key failure demonstration. Show the attempt identifier and audit trail before and after reconciliation. Do not describe this as real money movement or imply a real disbursement contract exists. Source: scripts/cloud-demo-check.py and tests/e2e/full_platform.py.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hosted demonstration uses deterministic fixtures and simulators, not live model or provider approvals. Four invented extraction fixtures are regression checks, not representative language certification. Do not claim production Swahili or speech accuracy. Source: docs/decisions/SDLC-status.md and docs/decisions/EXTRACTION-run-17-evaluation.json.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Latest application checkpoint: 8c27c1440a2ea605e20738cfaa15cb4b9b7b3a32. CI: https://github.com/kimtour/turaco-insurance/actions/runs/38880620013 and https://github.com/kimtour/turaco-insurance/actions/runs/38880619991. Historical release run 17 had 23 Java, 17 Python and eight release-tool tests; its 24935a7 source is distinct from later cloud and UI fixes. Source: docs/decisions/SDLC-status.md.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https://turaco-presentation.kimani-mutua.workers.dev/workspace/ . Fixture: approver / local-demo-only. Resume the Codespace before the interview. If unavailable, use the hosted screenshots and workflow explanation; do not present them as a currently live transaction. Guide: https://turaco-presentation.kimani-mutua.workers.dev/documents/docs/cloud-presentation.html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owner selected free compute and confirmed a $0 Codespaces budget with blocking. The workspace sleeps after 30 minutes of inactivity and cannot promise always-on access. Cloudflare keeps the deck, documents, handoff and release downloads available independently. Finish by opening the public source and the handoff. Source: docs/decisions/SDLC-status.md and docs/cloud-presentation.md.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761e0ec4ca424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ef9860885064bb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2e55e83369040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6221d63ea8499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3c149d28f0347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486a5c92ecb4f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C96770-8D2D-49E4-9197-E9D42811E42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E6684B0-18CA-4A03-94FA-8BD92984D1F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05D7281-CB82-4A44-BFE4-A492D293EA6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CD2FC7-E41F-4EFC-9D63-BD971EB814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C036489-431C-42C5-B70D-4BAE858ED5A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59D695-5153-4479-B197-4B3858BCEE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27DAA4-5716-49A4-A11C-7357DD6FA5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94DF629-07BE-45F8-AD42-B9AD258663B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616838-44B4-4F6D-AD8E-B46F9D9696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0F7311-710F-4492-80E7-C131EFBF8FF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2447ede0754a11" /><Relationship Type="http://schemas.openxmlformats.org/officeDocument/2006/relationships/slideLayout" Target="/ppt/slideLayouts/slideLayout1.xml" Id="Ra4796eb59f9d4d0e" /><Relationship Type="http://schemas.openxmlformats.org/officeDocument/2006/relationships/slideLayout" Target="/ppt/slideLayouts/slideLayout2.xml" Id="R661b53e02afc4682" /><Relationship Type="http://schemas.openxmlformats.org/officeDocument/2006/relationships/slideLayout" Target="/ppt/slideLayouts/slideLayout3.xml" Id="R4c1920ac5c0d48f2" /><Relationship Type="http://schemas.openxmlformats.org/officeDocument/2006/relationships/slideLayout" Target="/ppt/slideLayouts/slideLayout4.xml" Id="R146756500b824742" /><Relationship Type="http://schemas.openxmlformats.org/officeDocument/2006/relationships/slideLayout" Target="/ppt/slideLayouts/slideLayout5.xml" Id="R5ccdbf33a6174126" /><Relationship Type="http://schemas.openxmlformats.org/officeDocument/2006/relationships/slideLayout" Target="/ppt/slideLayouts/slideLayout6.xml" Id="R08da16195e6242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796eb59f9d4d0e"/>
    <p:sldLayoutId xmlns:r="http://schemas.openxmlformats.org/officeDocument/2006/relationships" id="2147483650" r:id="R661b53e02afc4682"/>
    <p:sldLayoutId xmlns:r="http://schemas.openxmlformats.org/officeDocument/2006/relationships" id="2147483651" r:id="R4c1920ac5c0d48f2"/>
    <p:sldLayoutId xmlns:r="http://schemas.openxmlformats.org/officeDocument/2006/relationships" id="2147483652" r:id="R146756500b824742"/>
    <p:sldLayoutId xmlns:r="http://schemas.openxmlformats.org/officeDocument/2006/relationships" id="2147483653" r:id="R5ccdbf33a6174126"/>
    <p:sldLayoutId xmlns:r="http://schemas.openxmlformats.org/officeDocument/2006/relationships" id="2147483654" r:id="R08da16195e6242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0f8c13ae295443d" /><Relationship Type="http://schemas.openxmlformats.org/officeDocument/2006/relationships/notesSlide" Target="/ppt/notesSlides/notesSlide1.xml" Id="Re3948c63af124b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638d658d04d4308" /><Relationship Type="http://schemas.openxmlformats.org/officeDocument/2006/relationships/notesSlide" Target="/ppt/notesSlides/notesSlide2.xml" Id="R043ba9692ab148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2c848783f74143" /><Relationship Type="http://schemas.openxmlformats.org/officeDocument/2006/relationships/notesSlide" Target="/ppt/notesSlides/notesSlide3.xml" Id="R1e91695010dc48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c5db4611aea411f" /><Relationship Type="http://schemas.openxmlformats.org/officeDocument/2006/relationships/notesSlide" Target="/ppt/notesSlides/notesSlide4.xml" Id="Re173b7667e674e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7916b674ac422f" /><Relationship Type="http://schemas.openxmlformats.org/officeDocument/2006/relationships/notesSlide" Target="/ppt/notesSlides/notesSlide5.xml" Id="Rfb40b8b213704a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22d54537fa448ea" /><Relationship Type="http://schemas.openxmlformats.org/officeDocument/2006/relationships/notesSlide" Target="/ppt/notesSlides/notesSlide6.xml" Id="R750ce34ef1be42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0ee13c8cc1447af" /><Relationship Type="http://schemas.openxmlformats.org/officeDocument/2006/relationships/notesSlide" Target="/ppt/notesSlides/notesSlide7.xml" Id="R3b9a473ae67e43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deb547c88084476" /><Relationship Type="http://schemas.openxmlformats.org/officeDocument/2006/relationships/notesSlide" Target="/ppt/notesSlides/notesSlide8.xml" Id="Ra6288a2b76f240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c4898dab66048f6" /><Relationship Type="http://schemas.openxmlformats.org/officeDocument/2006/relationships/notesSlide" Target="/ppt/notesSlides/notesSlide9.xml" Id="Rc334d6e577de48a8" /></Relationships>
</file>

<file path=ppt/slides/slide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66D1B04-4807-4FAA-B613-DFDCFEFDFED9}"/>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254C3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0CC9C8-9C6A-482D-8981-E3E1AA9E7A99}"/>
              </a:ext>
            </a:extLst>
          </p:cNvPr>
          <p:cNvSpPr>
            <a:spLocks xmlns:a="http://schemas.openxmlformats.org/drawingml/2006/main" noGrp="1"/>
          </p:cNvSpPr>
          <p:nvPr/>
        </p:nvSpPr>
        <p:spPr>
          <a:xfrm xmlns:a="http://schemas.openxmlformats.org/drawingml/2006/main">
            <a:off x="666750" y="5143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183D31"/>
                </a:solidFill>
                <a:latin typeface="Arial"/>
                <a:ea typeface="Arial"/>
                <a:cs typeface="Arial"/>
              </a:defRPr>
            </a:defPPr>
          </a:lstStyle>
          <a:p xmlns:a="http://schemas.openxmlformats.org/drawingml/2006/main">
            <a:pPr>
              <a:defRPr sz="4275" b="1">
                <a:solidFill>
                  <a:srgbClr val="183D31"/>
                </a:solidFill>
                <a:latin typeface="Arial"/>
                <a:ea typeface="Arial"/>
                <a:cs typeface="Arial"/>
              </a:defRPr>
            </a:pPr>
            <a:r>
              <a:rPr sz="4275" b="1">
                <a:solidFill>
                  <a:srgbClr val="183D31"/>
                </a:solidFill>
                <a:latin typeface="Arial"/>
                <a:ea typeface="Arial"/>
                <a:cs typeface="Arial"/>
              </a:rPr>
              <a:t>Hospital cash claims</a:t>
            </a:r>
          </a:p>
        </p:txBody>
      </p:sp>
      <p:sp>
        <p:nvSpPr>
          <p:cNvPr id="3" name="">
            <a:extLst xmlns:a="http://schemas.openxmlformats.org/drawingml/2006/main">
              <a:ext uri="{FF2B5EF4-FFF2-40B4-BE49-F238E27FC236}">
                <a16:creationId xmlns:a16="http://schemas.microsoft.com/office/drawing/2014/main" id="{985269B4-0E59-4C9B-BB67-CEBDD5C09B5B}"/>
              </a:ext>
            </a:extLst>
          </p:cNvPr>
          <p:cNvSpPr>
            <a:spLocks xmlns:a="http://schemas.openxmlformats.org/drawingml/2006/main" noGrp="1"/>
          </p:cNvSpPr>
          <p:nvPr/>
        </p:nvSpPr>
        <p:spPr>
          <a:xfrm xmlns:a="http://schemas.openxmlformats.org/drawingml/2006/main">
            <a:off x="685800" y="17240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B5B51"/>
                </a:solidFill>
                <a:latin typeface="Arial"/>
                <a:ea typeface="Arial"/>
                <a:cs typeface="Arial"/>
              </a:defRPr>
            </a:defPPr>
          </a:lstStyle>
          <a:p xmlns:a="http://schemas.openxmlformats.org/drawingml/2006/main">
            <a:pPr>
              <a:defRPr sz="1875" b="0">
                <a:solidFill>
                  <a:srgbClr val="4B5B51"/>
                </a:solidFill>
                <a:latin typeface="Arial"/>
                <a:ea typeface="Arial"/>
                <a:cs typeface="Arial"/>
              </a:defRPr>
            </a:pPr>
            <a:r>
              <a:rPr sz="1875" b="0">
                <a:solidFill>
                  <a:srgbClr val="4B5B51"/>
                </a:solidFill>
                <a:latin typeface="Arial"/>
                <a:ea typeface="Arial"/>
                <a:cs typeface="Arial"/>
              </a:rPr>
              <a:t>A working insurance reference for an engineering interview</a:t>
            </a:r>
          </a:p>
        </p:txBody>
      </p:sp>
      <p:sp>
        <p:nvSpPr>
          <p:cNvPr id="4" name="">
            <a:extLst xmlns:a="http://schemas.openxmlformats.org/drawingml/2006/main">
              <a:ext uri="{FF2B5EF4-FFF2-40B4-BE49-F238E27FC236}">
                <a16:creationId xmlns:a16="http://schemas.microsoft.com/office/drawing/2014/main" id="{B7DC14AD-A928-4768-94E8-C81F3913C61A}"/>
              </a:ext>
            </a:extLst>
          </p:cNvPr>
          <p:cNvSpPr>
            <a:spLocks xmlns:a="http://schemas.openxmlformats.org/drawingml/2006/main" noGrp="1"/>
          </p:cNvSpPr>
          <p:nvPr/>
        </p:nvSpPr>
        <p:spPr>
          <a:xfrm xmlns:a="http://schemas.openxmlformats.org/drawingml/2006/main">
            <a:off x="704850" y="268605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4DA727F-8840-4F25-8A30-BD8696305778}"/>
              </a:ext>
            </a:extLst>
          </p:cNvPr>
          <p:cNvSpPr>
            <a:spLocks xmlns:a="http://schemas.openxmlformats.org/drawingml/2006/main" noGrp="1"/>
          </p:cNvSpPr>
          <p:nvPr/>
        </p:nvSpPr>
        <p:spPr>
          <a:xfrm xmlns:a="http://schemas.openxmlformats.org/drawingml/2006/main">
            <a:off x="1428750" y="263842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Customer intake to a recorded human decision</a:t>
            </a:r>
          </a:p>
        </p:txBody>
      </p:sp>
      <p:sp>
        <p:nvSpPr>
          <p:cNvPr id="6" name="">
            <a:extLst xmlns:a="http://schemas.openxmlformats.org/drawingml/2006/main">
              <a:ext uri="{FF2B5EF4-FFF2-40B4-BE49-F238E27FC236}">
                <a16:creationId xmlns:a16="http://schemas.microsoft.com/office/drawing/2014/main" id="{E3BB4BDD-4B2B-48A9-A63C-2904E8578712}"/>
              </a:ext>
            </a:extLst>
          </p:cNvPr>
          <p:cNvSpPr>
            <a:spLocks xmlns:a="http://schemas.openxmlformats.org/drawingml/2006/main" noGrp="1"/>
          </p:cNvSpPr>
          <p:nvPr/>
        </p:nvSpPr>
        <p:spPr>
          <a:xfrm xmlns:a="http://schemas.openxmlformats.org/drawingml/2006/main">
            <a:off x="704850" y="3629025"/>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105CB42C-078D-48F3-9DDF-3967C649C639}"/>
              </a:ext>
            </a:extLst>
          </p:cNvPr>
          <p:cNvSpPr>
            <a:spLocks xmlns:a="http://schemas.openxmlformats.org/drawingml/2006/main" noGrp="1"/>
          </p:cNvSpPr>
          <p:nvPr/>
        </p:nvSpPr>
        <p:spPr>
          <a:xfrm xmlns:a="http://schemas.openxmlformats.org/drawingml/2006/main">
            <a:off x="1428750" y="35814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Evidence, identity checks and a recoverable payout ledger</a:t>
            </a:r>
          </a:p>
        </p:txBody>
      </p:sp>
      <p:sp>
        <p:nvSpPr>
          <p:cNvPr id="8" name="">
            <a:extLst xmlns:a="http://schemas.openxmlformats.org/drawingml/2006/main">
              <a:ext uri="{FF2B5EF4-FFF2-40B4-BE49-F238E27FC236}">
                <a16:creationId xmlns:a16="http://schemas.microsoft.com/office/drawing/2014/main" id="{8F3F0866-9EB4-467E-ADE5-F895DCAD285E}"/>
              </a:ext>
            </a:extLst>
          </p:cNvPr>
          <p:cNvSpPr>
            <a:spLocks xmlns:a="http://schemas.openxmlformats.org/drawingml/2006/main" noGrp="1"/>
          </p:cNvSpPr>
          <p:nvPr/>
        </p:nvSpPr>
        <p:spPr>
          <a:xfrm xmlns:a="http://schemas.openxmlformats.org/drawingml/2006/main">
            <a:off x="704850" y="457200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BD7BADF3-26DE-4918-9C7D-2FB6707EFD00}"/>
              </a:ext>
            </a:extLst>
          </p:cNvPr>
          <p:cNvSpPr>
            <a:spLocks xmlns:a="http://schemas.openxmlformats.org/drawingml/2006/main" noGrp="1"/>
          </p:cNvSpPr>
          <p:nvPr/>
        </p:nvSpPr>
        <p:spPr>
          <a:xfrm xmlns:a="http://schemas.openxmlformats.org/drawingml/2006/main">
            <a:off x="1428750" y="452437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Real Java and Python services running in the cloud</a:t>
            </a:r>
          </a:p>
        </p:txBody>
      </p:sp>
      <p:sp>
        <p:nvSpPr>
          <p:cNvPr id="10" name="">
            <a:extLst xmlns:a="http://schemas.openxmlformats.org/drawingml/2006/main">
              <a:ext uri="{FF2B5EF4-FFF2-40B4-BE49-F238E27FC236}">
                <a16:creationId xmlns:a16="http://schemas.microsoft.com/office/drawing/2014/main" id="{7FE0674A-30AD-4F83-BD7C-6AE5C7358AAE}"/>
              </a:ext>
            </a:extLst>
          </p:cNvPr>
          <p:cNvSpPr>
            <a:spLocks xmlns:a="http://schemas.openxmlformats.org/drawingml/2006/main" noGrp="1"/>
          </p:cNvSpPr>
          <p:nvPr/>
        </p:nvSpPr>
        <p:spPr>
          <a:xfrm xmlns:a="http://schemas.openxmlformats.org/drawingml/2006/main">
            <a:off x="685800" y="62960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D665E"/>
                </a:solidFill>
                <a:latin typeface="Arial"/>
                <a:ea typeface="Arial"/>
                <a:cs typeface="Arial"/>
              </a:defRPr>
            </a:defPPr>
          </a:lstStyle>
          <a:p xmlns:a="http://schemas.openxmlformats.org/drawingml/2006/main">
            <a:pPr>
              <a:defRPr sz="1125" b="0">
                <a:solidFill>
                  <a:srgbClr val="5D665E"/>
                </a:solidFill>
                <a:latin typeface="Arial"/>
                <a:ea typeface="Arial"/>
                <a:cs typeface="Arial"/>
              </a:defRPr>
            </a:pPr>
            <a:r>
              <a:rPr sz="1125" b="0">
                <a:solidFill>
                  <a:srgbClr val="5D665E"/>
                </a:solidFill>
                <a:latin typeface="Arial"/>
                <a:ea typeface="Arial"/>
                <a:cs typeface="Arial"/>
              </a:rPr>
              <a:t>Independent synthetic reference · 16 October 2026</a:t>
            </a:r>
          </a:p>
        </p:txBody>
      </p:sp>
      <p:sp>
        <p:nvSpPr>
          <p:cNvPr id="11" name="">
            <a:extLst xmlns:a="http://schemas.openxmlformats.org/drawingml/2006/main">
              <a:ext uri="{FF2B5EF4-FFF2-40B4-BE49-F238E27FC236}">
                <a16:creationId xmlns:a16="http://schemas.microsoft.com/office/drawing/2014/main" id="{42F4D6F0-C39B-41FB-AEB2-B1C5E0E501E8}"/>
              </a:ext>
            </a:extLst>
          </p:cNvPr>
          <p:cNvSpPr>
            <a:spLocks xmlns:a="http://schemas.openxmlformats.org/drawingml/2006/main" noGrp="1"/>
          </p:cNvSpPr>
          <p:nvPr/>
        </p:nvSpPr>
        <p:spPr>
          <a:xfrm xmlns:a="http://schemas.openxmlformats.org/drawingml/2006/main">
            <a:off x="10763250" y="629602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D665E"/>
                </a:solidFill>
                <a:latin typeface="Arial"/>
                <a:ea typeface="Arial"/>
                <a:cs typeface="Arial"/>
              </a:defRPr>
            </a:defPPr>
          </a:lstStyle>
          <a:p xmlns:a="http://schemas.openxmlformats.org/drawingml/2006/main">
            <a:pPr>
              <a:defRPr sz="1125" b="0">
                <a:solidFill>
                  <a:srgbClr val="5D665E"/>
                </a:solidFill>
                <a:latin typeface="Arial"/>
                <a:ea typeface="Arial"/>
                <a:cs typeface="Arial"/>
              </a:defRPr>
            </a:pPr>
            <a:r>
              <a:rPr sz="1125" b="0">
                <a:solidFill>
                  <a:srgbClr val="5D665E"/>
                </a:solidFill>
                <a:latin typeface="Arial"/>
                <a:ea typeface="Arial"/>
                <a:cs typeface="Arial"/>
              </a:rPr>
              <a:t>1 / 9</a:t>
            </a:r>
          </a:p>
        </p:txBody>
      </p:sp>
    </p:spTree>
    <p:extLst>
      <p:ext uri="{BB962C8B-B14F-4D97-AF65-F5344CB8AC3E}">
        <p14:creationId xmlns:p14="http://schemas.microsoft.com/office/powerpoint/2010/main" val="1016190733"/>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C893CE7-3747-4928-80F7-DB7E413B8CCA}"/>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254C3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EB829E-078C-45E8-A11E-72ED54EA1669}"/>
              </a:ext>
            </a:extLst>
          </p:cNvPr>
          <p:cNvSpPr>
            <a:spLocks xmlns:a="http://schemas.openxmlformats.org/drawingml/2006/main" noGrp="1"/>
          </p:cNvSpPr>
          <p:nvPr/>
        </p:nvSpPr>
        <p:spPr>
          <a:xfrm xmlns:a="http://schemas.openxmlformats.org/drawingml/2006/main">
            <a:off x="666750" y="5143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1"/>
                </a:solidFill>
                <a:latin typeface="Arial"/>
                <a:ea typeface="Arial"/>
                <a:cs typeface="Arial"/>
              </a:defRPr>
            </a:defPPr>
          </a:lstStyle>
          <a:p xmlns:a="http://schemas.openxmlformats.org/drawingml/2006/main">
            <a:pPr>
              <a:defRPr sz="3375" b="1">
                <a:solidFill>
                  <a:srgbClr val="183D31"/>
                </a:solidFill>
                <a:latin typeface="Arial"/>
                <a:ea typeface="Arial"/>
                <a:cs typeface="Arial"/>
              </a:defRPr>
            </a:pPr>
            <a:r>
              <a:rPr sz="3375" b="1">
                <a:solidFill>
                  <a:srgbClr val="183D31"/>
                </a:solidFill>
                <a:latin typeface="Arial"/>
                <a:ea typeface="Arial"/>
                <a:cs typeface="Arial"/>
              </a:rPr>
              <a:t>A claim needs more than extracted fields</a:t>
            </a:r>
          </a:p>
        </p:txBody>
      </p:sp>
      <p:sp>
        <p:nvSpPr>
          <p:cNvPr id="3" name="">
            <a:extLst xmlns:a="http://schemas.openxmlformats.org/drawingml/2006/main">
              <a:ext uri="{FF2B5EF4-FFF2-40B4-BE49-F238E27FC236}">
                <a16:creationId xmlns:a16="http://schemas.microsoft.com/office/drawing/2014/main" id="{28F78423-6408-47D7-9253-198E7B0A9C96}"/>
              </a:ext>
            </a:extLst>
          </p:cNvPr>
          <p:cNvSpPr>
            <a:spLocks xmlns:a="http://schemas.openxmlformats.org/drawingml/2006/main" noGrp="1"/>
          </p:cNvSpPr>
          <p:nvPr/>
        </p:nvSpPr>
        <p:spPr>
          <a:xfrm xmlns:a="http://schemas.openxmlformats.org/drawingml/2006/main">
            <a:off x="685800" y="17240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B5B51"/>
                </a:solidFill>
                <a:latin typeface="Arial"/>
                <a:ea typeface="Arial"/>
                <a:cs typeface="Arial"/>
              </a:defRPr>
            </a:defPPr>
          </a:lstStyle>
          <a:p xmlns:a="http://schemas.openxmlformats.org/drawingml/2006/main">
            <a:pPr>
              <a:defRPr sz="1875" b="0">
                <a:solidFill>
                  <a:srgbClr val="4B5B51"/>
                </a:solidFill>
                <a:latin typeface="Arial"/>
                <a:ea typeface="Arial"/>
                <a:cs typeface="Arial"/>
              </a:defRPr>
            </a:pPr>
            <a:r>
              <a:rPr sz="1875" b="0">
                <a:solidFill>
                  <a:srgbClr val="4B5B51"/>
                </a:solidFill>
                <a:latin typeface="Arial"/>
                <a:ea typeface="Arial"/>
                <a:cs typeface="Arial"/>
              </a:rPr>
              <a:t>The difficult part is deciding when the system is allowed to act</a:t>
            </a:r>
          </a:p>
        </p:txBody>
      </p:sp>
      <p:sp>
        <p:nvSpPr>
          <p:cNvPr id="4" name="">
            <a:extLst xmlns:a="http://schemas.openxmlformats.org/drawingml/2006/main">
              <a:ext uri="{FF2B5EF4-FFF2-40B4-BE49-F238E27FC236}">
                <a16:creationId xmlns:a16="http://schemas.microsoft.com/office/drawing/2014/main" id="{2F716BE6-58EC-4CEC-8666-5C8D7F73A56F}"/>
              </a:ext>
            </a:extLst>
          </p:cNvPr>
          <p:cNvSpPr>
            <a:spLocks xmlns:a="http://schemas.openxmlformats.org/drawingml/2006/main" noGrp="1"/>
          </p:cNvSpPr>
          <p:nvPr/>
        </p:nvSpPr>
        <p:spPr>
          <a:xfrm xmlns:a="http://schemas.openxmlformats.org/drawingml/2006/main">
            <a:off x="704850" y="268605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08B54E3-81FB-4DD7-B6B8-9FEFEF108251}"/>
              </a:ext>
            </a:extLst>
          </p:cNvPr>
          <p:cNvSpPr>
            <a:spLocks xmlns:a="http://schemas.openxmlformats.org/drawingml/2006/main" noGrp="1"/>
          </p:cNvSpPr>
          <p:nvPr/>
        </p:nvSpPr>
        <p:spPr>
          <a:xfrm xmlns:a="http://schemas.openxmlformats.org/drawingml/2006/main">
            <a:off x="1428750" y="263842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A customer can correct dates after the first intake</a:t>
            </a:r>
          </a:p>
        </p:txBody>
      </p:sp>
      <p:sp>
        <p:nvSpPr>
          <p:cNvPr id="6" name="">
            <a:extLst xmlns:a="http://schemas.openxmlformats.org/drawingml/2006/main">
              <a:ext uri="{FF2B5EF4-FFF2-40B4-BE49-F238E27FC236}">
                <a16:creationId xmlns:a16="http://schemas.microsoft.com/office/drawing/2014/main" id="{F42E4699-415E-4E39-A7DC-D4EDE8B7C918}"/>
              </a:ext>
            </a:extLst>
          </p:cNvPr>
          <p:cNvSpPr>
            <a:spLocks xmlns:a="http://schemas.openxmlformats.org/drawingml/2006/main" noGrp="1"/>
          </p:cNvSpPr>
          <p:nvPr/>
        </p:nvSpPr>
        <p:spPr>
          <a:xfrm xmlns:a="http://schemas.openxmlformats.org/drawingml/2006/main">
            <a:off x="704850" y="3629025"/>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742AA5C6-9E26-4045-92F7-1A86FAA1D906}"/>
              </a:ext>
            </a:extLst>
          </p:cNvPr>
          <p:cNvSpPr>
            <a:spLocks xmlns:a="http://schemas.openxmlformats.org/drawingml/2006/main" noGrp="1"/>
          </p:cNvSpPr>
          <p:nvPr/>
        </p:nvSpPr>
        <p:spPr>
          <a:xfrm xmlns:a="http://schemas.openxmlformats.org/drawingml/2006/main">
            <a:off x="1428750" y="35814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A matching document still needs a reviewed evidence decision</a:t>
            </a:r>
          </a:p>
        </p:txBody>
      </p:sp>
      <p:sp>
        <p:nvSpPr>
          <p:cNvPr id="8" name="">
            <a:extLst xmlns:a="http://schemas.openxmlformats.org/drawingml/2006/main">
              <a:ext uri="{FF2B5EF4-FFF2-40B4-BE49-F238E27FC236}">
                <a16:creationId xmlns:a16="http://schemas.microsoft.com/office/drawing/2014/main" id="{B979F24B-37F4-49A7-8003-1EDBD5E2EDD5}"/>
              </a:ext>
            </a:extLst>
          </p:cNvPr>
          <p:cNvSpPr>
            <a:spLocks xmlns:a="http://schemas.openxmlformats.org/drawingml/2006/main" noGrp="1"/>
          </p:cNvSpPr>
          <p:nvPr/>
        </p:nvSpPr>
        <p:spPr>
          <a:xfrm xmlns:a="http://schemas.openxmlformats.org/drawingml/2006/main">
            <a:off x="704850" y="457200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67DB98AE-97EE-49A9-980F-CF8BE395C839}"/>
              </a:ext>
            </a:extLst>
          </p:cNvPr>
          <p:cNvSpPr>
            <a:spLocks xmlns:a="http://schemas.openxmlformats.org/drawingml/2006/main" noGrp="1"/>
          </p:cNvSpPr>
          <p:nvPr/>
        </p:nvSpPr>
        <p:spPr>
          <a:xfrm xmlns:a="http://schemas.openxmlformats.org/drawingml/2006/main">
            <a:off x="1428750" y="452437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A payment timeout can hide a completed transfer</a:t>
            </a:r>
          </a:p>
        </p:txBody>
      </p:sp>
      <p:sp>
        <p:nvSpPr>
          <p:cNvPr id="10" name="">
            <a:extLst xmlns:a="http://schemas.openxmlformats.org/drawingml/2006/main">
              <a:ext uri="{FF2B5EF4-FFF2-40B4-BE49-F238E27FC236}">
                <a16:creationId xmlns:a16="http://schemas.microsoft.com/office/drawing/2014/main" id="{EB328465-0910-460F-9DB2-5DDE25623266}"/>
              </a:ext>
            </a:extLst>
          </p:cNvPr>
          <p:cNvSpPr>
            <a:spLocks xmlns:a="http://schemas.openxmlformats.org/drawingml/2006/main" noGrp="1"/>
          </p:cNvSpPr>
          <p:nvPr/>
        </p:nvSpPr>
        <p:spPr>
          <a:xfrm xmlns:a="http://schemas.openxmlformats.org/drawingml/2006/main">
            <a:off x="685800" y="62960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D665E"/>
                </a:solidFill>
                <a:latin typeface="Arial"/>
                <a:ea typeface="Arial"/>
                <a:cs typeface="Arial"/>
              </a:defRPr>
            </a:defPPr>
          </a:lstStyle>
          <a:p xmlns:a="http://schemas.openxmlformats.org/drawingml/2006/main">
            <a:pPr>
              <a:defRPr sz="1125" b="0">
                <a:solidFill>
                  <a:srgbClr val="5D665E"/>
                </a:solidFill>
                <a:latin typeface="Arial"/>
                <a:ea typeface="Arial"/>
                <a:cs typeface="Arial"/>
              </a:defRPr>
            </a:pPr>
            <a:r>
              <a:rPr sz="1125" b="0">
                <a:solidFill>
                  <a:srgbClr val="5D665E"/>
                </a:solidFill>
                <a:latin typeface="Arial"/>
                <a:ea typeface="Arial"/>
                <a:cs typeface="Arial"/>
              </a:rPr>
              <a:t>Independent synthetic reference · 16 October 2026</a:t>
            </a:r>
          </a:p>
        </p:txBody>
      </p:sp>
      <p:sp>
        <p:nvSpPr>
          <p:cNvPr id="11" name="">
            <a:extLst xmlns:a="http://schemas.openxmlformats.org/drawingml/2006/main">
              <a:ext uri="{FF2B5EF4-FFF2-40B4-BE49-F238E27FC236}">
                <a16:creationId xmlns:a16="http://schemas.microsoft.com/office/drawing/2014/main" id="{AE91966F-99D8-48DD-ACDF-D8B060DD8DCD}"/>
              </a:ext>
            </a:extLst>
          </p:cNvPr>
          <p:cNvSpPr>
            <a:spLocks xmlns:a="http://schemas.openxmlformats.org/drawingml/2006/main" noGrp="1"/>
          </p:cNvSpPr>
          <p:nvPr/>
        </p:nvSpPr>
        <p:spPr>
          <a:xfrm xmlns:a="http://schemas.openxmlformats.org/drawingml/2006/main">
            <a:off x="10763250" y="629602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D665E"/>
                </a:solidFill>
                <a:latin typeface="Arial"/>
                <a:ea typeface="Arial"/>
                <a:cs typeface="Arial"/>
              </a:defRPr>
            </a:defPPr>
          </a:lstStyle>
          <a:p xmlns:a="http://schemas.openxmlformats.org/drawingml/2006/main">
            <a:pPr>
              <a:defRPr sz="1125" b="0">
                <a:solidFill>
                  <a:srgbClr val="5D665E"/>
                </a:solidFill>
                <a:latin typeface="Arial"/>
                <a:ea typeface="Arial"/>
                <a:cs typeface="Arial"/>
              </a:defRPr>
            </a:pPr>
            <a:r>
              <a:rPr sz="1125" b="0">
                <a:solidFill>
                  <a:srgbClr val="5D665E"/>
                </a:solidFill>
                <a:latin typeface="Arial"/>
                <a:ea typeface="Arial"/>
                <a:cs typeface="Arial"/>
              </a:rPr>
              <a:t>2 / 9</a:t>
            </a:r>
          </a:p>
        </p:txBody>
      </p:sp>
    </p:spTree>
    <p:extLst>
      <p:ext uri="{BB962C8B-B14F-4D97-AF65-F5344CB8AC3E}">
        <p14:creationId xmlns:p14="http://schemas.microsoft.com/office/powerpoint/2010/main" val="2050251738"/>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2370B76-00A1-469E-95DF-98B3ED5C0B18}"/>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254C3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3062F7-C050-4EC2-BDF2-855B4B2F1A1D}"/>
              </a:ext>
            </a:extLst>
          </p:cNvPr>
          <p:cNvSpPr>
            <a:spLocks xmlns:a="http://schemas.openxmlformats.org/drawingml/2006/main" noGrp="1"/>
          </p:cNvSpPr>
          <p:nvPr/>
        </p:nvSpPr>
        <p:spPr>
          <a:xfrm xmlns:a="http://schemas.openxmlformats.org/drawingml/2006/main">
            <a:off x="666750" y="5143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1"/>
                </a:solidFill>
                <a:latin typeface="Arial"/>
                <a:ea typeface="Arial"/>
                <a:cs typeface="Arial"/>
              </a:defRPr>
            </a:defPPr>
          </a:lstStyle>
          <a:p xmlns:a="http://schemas.openxmlformats.org/drawingml/2006/main">
            <a:pPr>
              <a:defRPr sz="3375" b="1">
                <a:solidFill>
                  <a:srgbClr val="183D31"/>
                </a:solidFill>
                <a:latin typeface="Arial"/>
                <a:ea typeface="Arial"/>
                <a:cs typeface="Arial"/>
              </a:defRPr>
            </a:pPr>
            <a:r>
              <a:rPr sz="3375" b="1">
                <a:solidFill>
                  <a:srgbClr val="183D31"/>
                </a:solidFill>
                <a:latin typeface="Arial"/>
                <a:ea typeface="Arial"/>
                <a:cs typeface="Arial"/>
              </a:rPr>
              <a:t>The live application keeps its original stack</a:t>
            </a:r>
          </a:p>
        </p:txBody>
      </p:sp>
      <p:sp>
        <p:nvSpPr>
          <p:cNvPr id="3" name="">
            <a:extLst xmlns:a="http://schemas.openxmlformats.org/drawingml/2006/main">
              <a:ext uri="{FF2B5EF4-FFF2-40B4-BE49-F238E27FC236}">
                <a16:creationId xmlns:a16="http://schemas.microsoft.com/office/drawing/2014/main" id="{8B9C2F71-D0D1-449C-8F96-8D9B34DB825D}"/>
              </a:ext>
            </a:extLst>
          </p:cNvPr>
          <p:cNvSpPr>
            <a:spLocks xmlns:a="http://schemas.openxmlformats.org/drawingml/2006/main" noGrp="1"/>
          </p:cNvSpPr>
          <p:nvPr/>
        </p:nvSpPr>
        <p:spPr>
          <a:xfrm xmlns:a="http://schemas.openxmlformats.org/drawingml/2006/main">
            <a:off x="685800" y="17240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B5B51"/>
                </a:solidFill>
                <a:latin typeface="Arial"/>
                <a:ea typeface="Arial"/>
                <a:cs typeface="Arial"/>
              </a:defRPr>
            </a:defPPr>
          </a:lstStyle>
          <a:p xmlns:a="http://schemas.openxmlformats.org/drawingml/2006/main">
            <a:pPr>
              <a:defRPr sz="1875" b="0">
                <a:solidFill>
                  <a:srgbClr val="4B5B51"/>
                </a:solidFill>
                <a:latin typeface="Arial"/>
                <a:ea typeface="Arial"/>
                <a:cs typeface="Arial"/>
              </a:defRPr>
            </a:pPr>
            <a:r>
              <a:rPr sz="1875" b="0">
                <a:solidFill>
                  <a:srgbClr val="4B5B51"/>
                </a:solidFill>
                <a:latin typeface="Arial"/>
                <a:ea typeface="Arial"/>
                <a:cs typeface="Arial"/>
              </a:rPr>
              <a:t>Cloudflare serves the interview materials and forwards the app</a:t>
            </a:r>
          </a:p>
        </p:txBody>
      </p:sp>
      <p:sp>
        <p:nvSpPr>
          <p:cNvPr id="4" name="">
            <a:extLst xmlns:a="http://schemas.openxmlformats.org/drawingml/2006/main">
              <a:ext uri="{FF2B5EF4-FFF2-40B4-BE49-F238E27FC236}">
                <a16:creationId xmlns:a16="http://schemas.microsoft.com/office/drawing/2014/main" id="{A19A336C-4449-4508-996C-856EAAF2B71E}"/>
              </a:ext>
            </a:extLst>
          </p:cNvPr>
          <p:cNvSpPr>
            <a:spLocks xmlns:a="http://schemas.openxmlformats.org/drawingml/2006/main" noGrp="1"/>
          </p:cNvSpPr>
          <p:nvPr/>
        </p:nvSpPr>
        <p:spPr>
          <a:xfrm xmlns:a="http://schemas.openxmlformats.org/drawingml/2006/main">
            <a:off x="704850" y="268605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654EE67-BCAC-4107-B139-2EB457F0D111}"/>
              </a:ext>
            </a:extLst>
          </p:cNvPr>
          <p:cNvSpPr>
            <a:spLocks xmlns:a="http://schemas.openxmlformats.org/drawingml/2006/main" noGrp="1"/>
          </p:cNvSpPr>
          <p:nvPr/>
        </p:nvSpPr>
        <p:spPr>
          <a:xfrm xmlns:a="http://schemas.openxmlformats.org/drawingml/2006/main">
            <a:off x="1428750" y="263842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Browser → Cloudflare → Codespaces dashboard gateway</a:t>
            </a:r>
          </a:p>
        </p:txBody>
      </p:sp>
      <p:sp>
        <p:nvSpPr>
          <p:cNvPr id="6" name="">
            <a:extLst xmlns:a="http://schemas.openxmlformats.org/drawingml/2006/main">
              <a:ext uri="{FF2B5EF4-FFF2-40B4-BE49-F238E27FC236}">
                <a16:creationId xmlns:a16="http://schemas.microsoft.com/office/drawing/2014/main" id="{524C9D0E-FDE1-4001-AE18-9BA15464C8F9}"/>
              </a:ext>
            </a:extLst>
          </p:cNvPr>
          <p:cNvSpPr>
            <a:spLocks xmlns:a="http://schemas.openxmlformats.org/drawingml/2006/main" noGrp="1"/>
          </p:cNvSpPr>
          <p:nvPr/>
        </p:nvSpPr>
        <p:spPr>
          <a:xfrm xmlns:a="http://schemas.openxmlformats.org/drawingml/2006/main">
            <a:off x="704850" y="346710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D06B44BF-E018-4B80-A98E-BC4DEE8AA28F}"/>
              </a:ext>
            </a:extLst>
          </p:cNvPr>
          <p:cNvSpPr>
            <a:spLocks xmlns:a="http://schemas.openxmlformats.org/drawingml/2006/main" noGrp="1"/>
          </p:cNvSpPr>
          <p:nvPr/>
        </p:nvSpPr>
        <p:spPr>
          <a:xfrm xmlns:a="http://schemas.openxmlformats.org/drawingml/2006/main">
            <a:off x="1428750" y="341947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Java API → PostgreSQL: claim state, audit and payout ledger</a:t>
            </a:r>
          </a:p>
        </p:txBody>
      </p:sp>
      <p:sp>
        <p:nvSpPr>
          <p:cNvPr id="8" name="">
            <a:extLst xmlns:a="http://schemas.openxmlformats.org/drawingml/2006/main">
              <a:ext uri="{FF2B5EF4-FFF2-40B4-BE49-F238E27FC236}">
                <a16:creationId xmlns:a16="http://schemas.microsoft.com/office/drawing/2014/main" id="{8AED6734-210E-43A9-A8AF-26044DD32C1A}"/>
              </a:ext>
            </a:extLst>
          </p:cNvPr>
          <p:cNvSpPr>
            <a:spLocks xmlns:a="http://schemas.openxmlformats.org/drawingml/2006/main" noGrp="1"/>
          </p:cNvSpPr>
          <p:nvPr/>
        </p:nvSpPr>
        <p:spPr>
          <a:xfrm xmlns:a="http://schemas.openxmlformats.org/drawingml/2006/main">
            <a:off x="704850" y="424815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85BF24E5-615B-4FFA-B282-5BFE56906944}"/>
              </a:ext>
            </a:extLst>
          </p:cNvPr>
          <p:cNvSpPr>
            <a:spLocks xmlns:a="http://schemas.openxmlformats.org/drawingml/2006/main" noGrp="1"/>
          </p:cNvSpPr>
          <p:nvPr/>
        </p:nvSpPr>
        <p:spPr>
          <a:xfrm xmlns:a="http://schemas.openxmlformats.org/drawingml/2006/main">
            <a:off x="1428750" y="420052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Keycloak: roles and tokens · Python: extraction and workflow</a:t>
            </a:r>
          </a:p>
        </p:txBody>
      </p:sp>
      <p:sp>
        <p:nvSpPr>
          <p:cNvPr id="10" name="">
            <a:extLst xmlns:a="http://schemas.openxmlformats.org/drawingml/2006/main">
              <a:ext uri="{FF2B5EF4-FFF2-40B4-BE49-F238E27FC236}">
                <a16:creationId xmlns:a16="http://schemas.microsoft.com/office/drawing/2014/main" id="{E09FBD45-A62F-4D1B-8FCE-9BB6E1FB45A4}"/>
              </a:ext>
            </a:extLst>
          </p:cNvPr>
          <p:cNvSpPr>
            <a:spLocks xmlns:a="http://schemas.openxmlformats.org/drawingml/2006/main" noGrp="1"/>
          </p:cNvSpPr>
          <p:nvPr/>
        </p:nvSpPr>
        <p:spPr>
          <a:xfrm xmlns:a="http://schemas.openxmlformats.org/drawingml/2006/main">
            <a:off x="704850" y="502920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0EC1BE46-A1D8-4624-9388-C5F1F80AC760}"/>
              </a:ext>
            </a:extLst>
          </p:cNvPr>
          <p:cNvSpPr>
            <a:spLocks xmlns:a="http://schemas.openxmlformats.org/drawingml/2006/main" noGrp="1"/>
          </p:cNvSpPr>
          <p:nvPr/>
        </p:nvSpPr>
        <p:spPr>
          <a:xfrm xmlns:a="http://schemas.openxmlformats.org/drawingml/2006/main">
            <a:off x="1428750" y="498157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Provider simulator: invented evidence and payment outcomes</a:t>
            </a:r>
          </a:p>
        </p:txBody>
      </p:sp>
      <p:sp>
        <p:nvSpPr>
          <p:cNvPr id="12" name="">
            <a:extLst xmlns:a="http://schemas.openxmlformats.org/drawingml/2006/main">
              <a:ext uri="{FF2B5EF4-FFF2-40B4-BE49-F238E27FC236}">
                <a16:creationId xmlns:a16="http://schemas.microsoft.com/office/drawing/2014/main" id="{19C3A275-3981-433F-808E-7ED5C511C655}"/>
              </a:ext>
            </a:extLst>
          </p:cNvPr>
          <p:cNvSpPr>
            <a:spLocks xmlns:a="http://schemas.openxmlformats.org/drawingml/2006/main" noGrp="1"/>
          </p:cNvSpPr>
          <p:nvPr/>
        </p:nvSpPr>
        <p:spPr>
          <a:xfrm xmlns:a="http://schemas.openxmlformats.org/drawingml/2006/main">
            <a:off x="685800" y="62960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D665E"/>
                </a:solidFill>
                <a:latin typeface="Arial"/>
                <a:ea typeface="Arial"/>
                <a:cs typeface="Arial"/>
              </a:defRPr>
            </a:defPPr>
          </a:lstStyle>
          <a:p xmlns:a="http://schemas.openxmlformats.org/drawingml/2006/main">
            <a:pPr>
              <a:defRPr sz="1125" b="0">
                <a:solidFill>
                  <a:srgbClr val="5D665E"/>
                </a:solidFill>
                <a:latin typeface="Arial"/>
                <a:ea typeface="Arial"/>
                <a:cs typeface="Arial"/>
              </a:defRPr>
            </a:pPr>
            <a:r>
              <a:rPr sz="1125" b="0">
                <a:solidFill>
                  <a:srgbClr val="5D665E"/>
                </a:solidFill>
                <a:latin typeface="Arial"/>
                <a:ea typeface="Arial"/>
                <a:cs typeface="Arial"/>
              </a:rPr>
              <a:t>Independent synthetic reference · 16 October 2026</a:t>
            </a:r>
          </a:p>
        </p:txBody>
      </p:sp>
      <p:sp>
        <p:nvSpPr>
          <p:cNvPr id="13" name="">
            <a:extLst xmlns:a="http://schemas.openxmlformats.org/drawingml/2006/main">
              <a:ext uri="{FF2B5EF4-FFF2-40B4-BE49-F238E27FC236}">
                <a16:creationId xmlns:a16="http://schemas.microsoft.com/office/drawing/2014/main" id="{0C86BC48-4652-4157-BBC5-B9904B235125}"/>
              </a:ext>
            </a:extLst>
          </p:cNvPr>
          <p:cNvSpPr>
            <a:spLocks xmlns:a="http://schemas.openxmlformats.org/drawingml/2006/main" noGrp="1"/>
          </p:cNvSpPr>
          <p:nvPr/>
        </p:nvSpPr>
        <p:spPr>
          <a:xfrm xmlns:a="http://schemas.openxmlformats.org/drawingml/2006/main">
            <a:off x="10763250" y="629602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D665E"/>
                </a:solidFill>
                <a:latin typeface="Arial"/>
                <a:ea typeface="Arial"/>
                <a:cs typeface="Arial"/>
              </a:defRPr>
            </a:defPPr>
          </a:lstStyle>
          <a:p xmlns:a="http://schemas.openxmlformats.org/drawingml/2006/main">
            <a:pPr>
              <a:defRPr sz="1125" b="0">
                <a:solidFill>
                  <a:srgbClr val="5D665E"/>
                </a:solidFill>
                <a:latin typeface="Arial"/>
                <a:ea typeface="Arial"/>
                <a:cs typeface="Arial"/>
              </a:defRPr>
            </a:pPr>
            <a:r>
              <a:rPr sz="1125" b="0">
                <a:solidFill>
                  <a:srgbClr val="5D665E"/>
                </a:solidFill>
                <a:latin typeface="Arial"/>
                <a:ea typeface="Arial"/>
                <a:cs typeface="Arial"/>
              </a:rPr>
              <a:t>3 / 9</a:t>
            </a:r>
          </a:p>
        </p:txBody>
      </p:sp>
    </p:spTree>
    <p:extLst>
      <p:ext uri="{BB962C8B-B14F-4D97-AF65-F5344CB8AC3E}">
        <p14:creationId xmlns:p14="http://schemas.microsoft.com/office/powerpoint/2010/main" val="886495204"/>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C2F2112-6696-4CAF-92CC-EE380CEEBB78}"/>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254C3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967C67-CFA8-47F9-B996-8F4ED6CAA800}"/>
              </a:ext>
            </a:extLst>
          </p:cNvPr>
          <p:cNvSpPr>
            <a:spLocks xmlns:a="http://schemas.openxmlformats.org/drawingml/2006/main" noGrp="1"/>
          </p:cNvSpPr>
          <p:nvPr/>
        </p:nvSpPr>
        <p:spPr>
          <a:xfrm xmlns:a="http://schemas.openxmlformats.org/drawingml/2006/main">
            <a:off x="666750" y="5143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1"/>
                </a:solidFill>
                <a:latin typeface="Arial"/>
                <a:ea typeface="Arial"/>
                <a:cs typeface="Arial"/>
              </a:defRPr>
            </a:defPPr>
          </a:lstStyle>
          <a:p xmlns:a="http://schemas.openxmlformats.org/drawingml/2006/main">
            <a:pPr>
              <a:defRPr sz="3375" b="1">
                <a:solidFill>
                  <a:srgbClr val="183D31"/>
                </a:solidFill>
                <a:latin typeface="Arial"/>
                <a:ea typeface="Arial"/>
                <a:cs typeface="Arial"/>
              </a:defRPr>
            </a:pPr>
            <a:r>
              <a:rPr sz="3375" b="1">
                <a:solidFill>
                  <a:srgbClr val="183D31"/>
                </a:solidFill>
                <a:latin typeface="Arial"/>
                <a:ea typeface="Arial"/>
                <a:cs typeface="Arial"/>
              </a:rPr>
              <a:t>Human authority sits between intake and payment</a:t>
            </a:r>
          </a:p>
        </p:txBody>
      </p:sp>
      <p:sp>
        <p:nvSpPr>
          <p:cNvPr id="3" name="">
            <a:extLst xmlns:a="http://schemas.openxmlformats.org/drawingml/2006/main">
              <a:ext uri="{FF2B5EF4-FFF2-40B4-BE49-F238E27FC236}">
                <a16:creationId xmlns:a16="http://schemas.microsoft.com/office/drawing/2014/main" id="{0126A712-16C5-41CE-9D81-D39683912A31}"/>
              </a:ext>
            </a:extLst>
          </p:cNvPr>
          <p:cNvSpPr>
            <a:spLocks xmlns:a="http://schemas.openxmlformats.org/drawingml/2006/main" noGrp="1"/>
          </p:cNvSpPr>
          <p:nvPr/>
        </p:nvSpPr>
        <p:spPr>
          <a:xfrm xmlns:a="http://schemas.openxmlformats.org/drawingml/2006/main">
            <a:off x="685800" y="17240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B5B51"/>
                </a:solidFill>
                <a:latin typeface="Arial"/>
                <a:ea typeface="Arial"/>
                <a:cs typeface="Arial"/>
              </a:defRPr>
            </a:defPPr>
          </a:lstStyle>
          <a:p xmlns:a="http://schemas.openxmlformats.org/drawingml/2006/main">
            <a:pPr>
              <a:defRPr sz="1875" b="0">
                <a:solidFill>
                  <a:srgbClr val="4B5B51"/>
                </a:solidFill>
                <a:latin typeface="Arial"/>
                <a:ea typeface="Arial"/>
                <a:cs typeface="Arial"/>
              </a:defRPr>
            </a:pPr>
            <a:r>
              <a:rPr sz="1875" b="0">
                <a:solidFill>
                  <a:srgbClr val="4B5B51"/>
                </a:solidFill>
                <a:latin typeface="Arial"/>
                <a:ea typeface="Arial"/>
                <a:cs typeface="Arial"/>
              </a:rPr>
              <a:t>The benefit calculation is deterministic</a:t>
            </a:r>
          </a:p>
        </p:txBody>
      </p:sp>
      <p:sp>
        <p:nvSpPr>
          <p:cNvPr id="4" name="">
            <a:extLst xmlns:a="http://schemas.openxmlformats.org/drawingml/2006/main">
              <a:ext uri="{FF2B5EF4-FFF2-40B4-BE49-F238E27FC236}">
                <a16:creationId xmlns:a16="http://schemas.microsoft.com/office/drawing/2014/main" id="{BF1A6847-96B5-4600-8492-EC49B4CB79F8}"/>
              </a:ext>
            </a:extLst>
          </p:cNvPr>
          <p:cNvSpPr>
            <a:spLocks xmlns:a="http://schemas.openxmlformats.org/drawingml/2006/main" noGrp="1"/>
          </p:cNvSpPr>
          <p:nvPr/>
        </p:nvSpPr>
        <p:spPr>
          <a:xfrm xmlns:a="http://schemas.openxmlformats.org/drawingml/2006/main">
            <a:off x="704850" y="268605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B87F094-5331-40DA-9AD7-60514F32F6BC}"/>
              </a:ext>
            </a:extLst>
          </p:cNvPr>
          <p:cNvSpPr>
            <a:spLocks xmlns:a="http://schemas.openxmlformats.org/drawingml/2006/main" noGrp="1"/>
          </p:cNvSpPr>
          <p:nvPr/>
        </p:nvSpPr>
        <p:spPr>
          <a:xfrm xmlns:a="http://schemas.openxmlformats.org/drawingml/2006/main">
            <a:off x="1428750" y="263842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Intake → customer confirmation → assisted verification</a:t>
            </a:r>
          </a:p>
        </p:txBody>
      </p:sp>
      <p:sp>
        <p:nvSpPr>
          <p:cNvPr id="6" name="">
            <a:extLst xmlns:a="http://schemas.openxmlformats.org/drawingml/2006/main">
              <a:ext uri="{FF2B5EF4-FFF2-40B4-BE49-F238E27FC236}">
                <a16:creationId xmlns:a16="http://schemas.microsoft.com/office/drawing/2014/main" id="{BB8F532C-1427-4145-82E0-B9BF63F137D9}"/>
              </a:ext>
            </a:extLst>
          </p:cNvPr>
          <p:cNvSpPr>
            <a:spLocks xmlns:a="http://schemas.openxmlformats.org/drawingml/2006/main" noGrp="1"/>
          </p:cNvSpPr>
          <p:nvPr/>
        </p:nvSpPr>
        <p:spPr>
          <a:xfrm xmlns:a="http://schemas.openxmlformats.org/drawingml/2006/main">
            <a:off x="704850" y="346710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E3F3874-63EA-4037-92C5-1B76F01CA8A9}"/>
              </a:ext>
            </a:extLst>
          </p:cNvPr>
          <p:cNvSpPr>
            <a:spLocks xmlns:a="http://schemas.openxmlformats.org/drawingml/2006/main" noGrp="1"/>
          </p:cNvSpPr>
          <p:nvPr/>
        </p:nvSpPr>
        <p:spPr>
          <a:xfrm xmlns:a="http://schemas.openxmlformats.org/drawingml/2006/main">
            <a:off x="1428750" y="341947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Submit → reviewer recommendation → approver reservation</a:t>
            </a:r>
          </a:p>
        </p:txBody>
      </p:sp>
      <p:sp>
        <p:nvSpPr>
          <p:cNvPr id="8" name="">
            <a:extLst xmlns:a="http://schemas.openxmlformats.org/drawingml/2006/main">
              <a:ext uri="{FF2B5EF4-FFF2-40B4-BE49-F238E27FC236}">
                <a16:creationId xmlns:a16="http://schemas.microsoft.com/office/drawing/2014/main" id="{C98A3E74-4482-4D2C-BE5C-A55541D81D4D}"/>
              </a:ext>
            </a:extLst>
          </p:cNvPr>
          <p:cNvSpPr>
            <a:spLocks xmlns:a="http://schemas.openxmlformats.org/drawingml/2006/main" noGrp="1"/>
          </p:cNvSpPr>
          <p:nvPr/>
        </p:nvSpPr>
        <p:spPr>
          <a:xfrm xmlns:a="http://schemas.openxmlformats.org/drawingml/2006/main">
            <a:off x="704850" y="424815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102441EC-A271-443E-A2F9-A889D68A11F7}"/>
              </a:ext>
            </a:extLst>
          </p:cNvPr>
          <p:cNvSpPr>
            <a:spLocks xmlns:a="http://schemas.openxmlformats.org/drawingml/2006/main" noGrp="1"/>
          </p:cNvSpPr>
          <p:nvPr/>
        </p:nvSpPr>
        <p:spPr>
          <a:xfrm xmlns:a="http://schemas.openxmlformats.org/drawingml/2006/main">
            <a:off x="1428750" y="420052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Simulated transfer → receipt → reconciliation</a:t>
            </a:r>
          </a:p>
        </p:txBody>
      </p:sp>
      <p:sp>
        <p:nvSpPr>
          <p:cNvPr id="10" name="">
            <a:extLst xmlns:a="http://schemas.openxmlformats.org/drawingml/2006/main">
              <a:ext uri="{FF2B5EF4-FFF2-40B4-BE49-F238E27FC236}">
                <a16:creationId xmlns:a16="http://schemas.microsoft.com/office/drawing/2014/main" id="{9C8D22B5-713D-438C-92E2-733B3CB08817}"/>
              </a:ext>
            </a:extLst>
          </p:cNvPr>
          <p:cNvSpPr>
            <a:spLocks xmlns:a="http://schemas.openxmlformats.org/drawingml/2006/main" noGrp="1"/>
          </p:cNvSpPr>
          <p:nvPr/>
        </p:nvSpPr>
        <p:spPr>
          <a:xfrm xmlns:a="http://schemas.openxmlformats.org/drawingml/2006/main">
            <a:off x="704850" y="502920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042A1BE6-851B-4C78-8CB8-58766BD7955E}"/>
              </a:ext>
            </a:extLst>
          </p:cNvPr>
          <p:cNvSpPr>
            <a:spLocks xmlns:a="http://schemas.openxmlformats.org/drawingml/2006/main" noGrp="1"/>
          </p:cNvSpPr>
          <p:nvPr/>
        </p:nvSpPr>
        <p:spPr>
          <a:xfrm xmlns:a="http://schemas.openxmlformats.org/drawingml/2006/main">
            <a:off x="1428750" y="498157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Three covered nights produce KES 4,500 in the invented policy</a:t>
            </a:r>
          </a:p>
        </p:txBody>
      </p:sp>
      <p:sp>
        <p:nvSpPr>
          <p:cNvPr id="12" name="">
            <a:extLst xmlns:a="http://schemas.openxmlformats.org/drawingml/2006/main">
              <a:ext uri="{FF2B5EF4-FFF2-40B4-BE49-F238E27FC236}">
                <a16:creationId xmlns:a16="http://schemas.microsoft.com/office/drawing/2014/main" id="{C0ECC536-384A-475E-83E5-A7589308E912}"/>
              </a:ext>
            </a:extLst>
          </p:cNvPr>
          <p:cNvSpPr>
            <a:spLocks xmlns:a="http://schemas.openxmlformats.org/drawingml/2006/main" noGrp="1"/>
          </p:cNvSpPr>
          <p:nvPr/>
        </p:nvSpPr>
        <p:spPr>
          <a:xfrm xmlns:a="http://schemas.openxmlformats.org/drawingml/2006/main">
            <a:off x="685800" y="62960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D665E"/>
                </a:solidFill>
                <a:latin typeface="Arial"/>
                <a:ea typeface="Arial"/>
                <a:cs typeface="Arial"/>
              </a:defRPr>
            </a:defPPr>
          </a:lstStyle>
          <a:p xmlns:a="http://schemas.openxmlformats.org/drawingml/2006/main">
            <a:pPr>
              <a:defRPr sz="1125" b="0">
                <a:solidFill>
                  <a:srgbClr val="5D665E"/>
                </a:solidFill>
                <a:latin typeface="Arial"/>
                <a:ea typeface="Arial"/>
                <a:cs typeface="Arial"/>
              </a:defRPr>
            </a:pPr>
            <a:r>
              <a:rPr sz="1125" b="0">
                <a:solidFill>
                  <a:srgbClr val="5D665E"/>
                </a:solidFill>
                <a:latin typeface="Arial"/>
                <a:ea typeface="Arial"/>
                <a:cs typeface="Arial"/>
              </a:rPr>
              <a:t>Independent synthetic reference · 16 October 2026</a:t>
            </a:r>
          </a:p>
        </p:txBody>
      </p:sp>
      <p:sp>
        <p:nvSpPr>
          <p:cNvPr id="13" name="">
            <a:extLst xmlns:a="http://schemas.openxmlformats.org/drawingml/2006/main">
              <a:ext uri="{FF2B5EF4-FFF2-40B4-BE49-F238E27FC236}">
                <a16:creationId xmlns:a16="http://schemas.microsoft.com/office/drawing/2014/main" id="{28E55395-C56D-486B-9CF1-A32A3A50FE2F}"/>
              </a:ext>
            </a:extLst>
          </p:cNvPr>
          <p:cNvSpPr>
            <a:spLocks xmlns:a="http://schemas.openxmlformats.org/drawingml/2006/main" noGrp="1"/>
          </p:cNvSpPr>
          <p:nvPr/>
        </p:nvSpPr>
        <p:spPr>
          <a:xfrm xmlns:a="http://schemas.openxmlformats.org/drawingml/2006/main">
            <a:off x="10763250" y="629602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D665E"/>
                </a:solidFill>
                <a:latin typeface="Arial"/>
                <a:ea typeface="Arial"/>
                <a:cs typeface="Arial"/>
              </a:defRPr>
            </a:defPPr>
          </a:lstStyle>
          <a:p xmlns:a="http://schemas.openxmlformats.org/drawingml/2006/main">
            <a:pPr>
              <a:defRPr sz="1125" b="0">
                <a:solidFill>
                  <a:srgbClr val="5D665E"/>
                </a:solidFill>
                <a:latin typeface="Arial"/>
                <a:ea typeface="Arial"/>
                <a:cs typeface="Arial"/>
              </a:defRPr>
            </a:pPr>
            <a:r>
              <a:rPr sz="1125" b="0">
                <a:solidFill>
                  <a:srgbClr val="5D665E"/>
                </a:solidFill>
                <a:latin typeface="Arial"/>
                <a:ea typeface="Arial"/>
                <a:cs typeface="Arial"/>
              </a:rPr>
              <a:t>4 / 9</a:t>
            </a:r>
          </a:p>
        </p:txBody>
      </p:sp>
    </p:spTree>
    <p:extLst>
      <p:ext uri="{BB962C8B-B14F-4D97-AF65-F5344CB8AC3E}">
        <p14:creationId xmlns:p14="http://schemas.microsoft.com/office/powerpoint/2010/main" val="762626758"/>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FB6C97D-E243-4D0D-A39E-3D0AC0C90401}"/>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254C3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0F72CE-42BA-40B8-BE60-5953967AA023}"/>
              </a:ext>
            </a:extLst>
          </p:cNvPr>
          <p:cNvSpPr>
            <a:spLocks xmlns:a="http://schemas.openxmlformats.org/drawingml/2006/main" noGrp="1"/>
          </p:cNvSpPr>
          <p:nvPr/>
        </p:nvSpPr>
        <p:spPr>
          <a:xfrm xmlns:a="http://schemas.openxmlformats.org/drawingml/2006/main">
            <a:off x="666750" y="5143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1"/>
                </a:solidFill>
                <a:latin typeface="Arial"/>
                <a:ea typeface="Arial"/>
                <a:cs typeface="Arial"/>
              </a:defRPr>
            </a:defPPr>
          </a:lstStyle>
          <a:p xmlns:a="http://schemas.openxmlformats.org/drawingml/2006/main">
            <a:pPr>
              <a:defRPr sz="3375" b="1">
                <a:solidFill>
                  <a:srgbClr val="183D31"/>
                </a:solidFill>
                <a:latin typeface="Arial"/>
                <a:ea typeface="Arial"/>
                <a:cs typeface="Arial"/>
              </a:defRPr>
            </a:pPr>
            <a:r>
              <a:rPr sz="3375" b="1">
                <a:solidFill>
                  <a:srgbClr val="183D31"/>
                </a:solidFill>
                <a:latin typeface="Arial"/>
                <a:ea typeface="Arial"/>
                <a:cs typeface="Arial"/>
              </a:rPr>
              <a:t>An unknown payout is not a failed payout</a:t>
            </a:r>
          </a:p>
        </p:txBody>
      </p:sp>
      <p:sp>
        <p:nvSpPr>
          <p:cNvPr id="3" name="">
            <a:extLst xmlns:a="http://schemas.openxmlformats.org/drawingml/2006/main">
              <a:ext uri="{FF2B5EF4-FFF2-40B4-BE49-F238E27FC236}">
                <a16:creationId xmlns:a16="http://schemas.microsoft.com/office/drawing/2014/main" id="{A9003632-C565-4844-B56C-AABB68B1992A}"/>
              </a:ext>
            </a:extLst>
          </p:cNvPr>
          <p:cNvSpPr>
            <a:spLocks xmlns:a="http://schemas.openxmlformats.org/drawingml/2006/main" noGrp="1"/>
          </p:cNvSpPr>
          <p:nvPr/>
        </p:nvSpPr>
        <p:spPr>
          <a:xfrm xmlns:a="http://schemas.openxmlformats.org/drawingml/2006/main">
            <a:off x="685800" y="17240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B5B51"/>
                </a:solidFill>
                <a:latin typeface="Arial"/>
                <a:ea typeface="Arial"/>
                <a:cs typeface="Arial"/>
              </a:defRPr>
            </a:defPPr>
          </a:lstStyle>
          <a:p xmlns:a="http://schemas.openxmlformats.org/drawingml/2006/main">
            <a:pPr>
              <a:defRPr sz="1875" b="0">
                <a:solidFill>
                  <a:srgbClr val="4B5B51"/>
                </a:solidFill>
                <a:latin typeface="Arial"/>
                <a:ea typeface="Arial"/>
                <a:cs typeface="Arial"/>
              </a:defRPr>
            </a:pPr>
            <a:r>
              <a:rPr sz="1875" b="0">
                <a:solidFill>
                  <a:srgbClr val="4B5B51"/>
                </a:solidFill>
                <a:latin typeface="Arial"/>
                <a:ea typeface="Arial"/>
                <a:cs typeface="Arial"/>
              </a:rPr>
              <a:t>Recovery preserves the original attempt</a:t>
            </a:r>
          </a:p>
        </p:txBody>
      </p:sp>
      <p:sp>
        <p:nvSpPr>
          <p:cNvPr id="4" name="">
            <a:extLst xmlns:a="http://schemas.openxmlformats.org/drawingml/2006/main">
              <a:ext uri="{FF2B5EF4-FFF2-40B4-BE49-F238E27FC236}">
                <a16:creationId xmlns:a16="http://schemas.microsoft.com/office/drawing/2014/main" id="{8B327A7D-77E7-4F42-86AE-279A4FB91C3B}"/>
              </a:ext>
            </a:extLst>
          </p:cNvPr>
          <p:cNvSpPr>
            <a:spLocks xmlns:a="http://schemas.openxmlformats.org/drawingml/2006/main" noGrp="1"/>
          </p:cNvSpPr>
          <p:nvPr/>
        </p:nvSpPr>
        <p:spPr>
          <a:xfrm xmlns:a="http://schemas.openxmlformats.org/drawingml/2006/main">
            <a:off x="704850" y="268605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22AB2A5C-8C0E-4B56-9A44-35C336E7BC74}"/>
              </a:ext>
            </a:extLst>
          </p:cNvPr>
          <p:cNvSpPr>
            <a:spLocks xmlns:a="http://schemas.openxmlformats.org/drawingml/2006/main" noGrp="1"/>
          </p:cNvSpPr>
          <p:nvPr/>
        </p:nvSpPr>
        <p:spPr>
          <a:xfrm xmlns:a="http://schemas.openxmlformats.org/drawingml/2006/main">
            <a:off x="1428750" y="263842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Create one simulated payout with an UNKNOWN result</a:t>
            </a:r>
          </a:p>
        </p:txBody>
      </p:sp>
      <p:sp>
        <p:nvSpPr>
          <p:cNvPr id="6" name="">
            <a:extLst xmlns:a="http://schemas.openxmlformats.org/drawingml/2006/main">
              <a:ext uri="{FF2B5EF4-FFF2-40B4-BE49-F238E27FC236}">
                <a16:creationId xmlns:a16="http://schemas.microsoft.com/office/drawing/2014/main" id="{8C3A095F-D355-4F8D-AB13-3FDBC30A3E6E}"/>
              </a:ext>
            </a:extLst>
          </p:cNvPr>
          <p:cNvSpPr>
            <a:spLocks xmlns:a="http://schemas.openxmlformats.org/drawingml/2006/main" noGrp="1"/>
          </p:cNvSpPr>
          <p:nvPr/>
        </p:nvSpPr>
        <p:spPr>
          <a:xfrm xmlns:a="http://schemas.openxmlformats.org/drawingml/2006/main">
            <a:off x="704850" y="346710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97236300-3754-4379-B653-F6F582B57998}"/>
              </a:ext>
            </a:extLst>
          </p:cNvPr>
          <p:cNvSpPr>
            <a:spLocks xmlns:a="http://schemas.openxmlformats.org/drawingml/2006/main" noGrp="1"/>
          </p:cNvSpPr>
          <p:nvPr/>
        </p:nvSpPr>
        <p:spPr>
          <a:xfrm xmlns:a="http://schemas.openxmlformats.org/drawingml/2006/main">
            <a:off x="1428750" y="341947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Block a blind retry while its outcome is unresolved</a:t>
            </a:r>
          </a:p>
        </p:txBody>
      </p:sp>
      <p:sp>
        <p:nvSpPr>
          <p:cNvPr id="8" name="">
            <a:extLst xmlns:a="http://schemas.openxmlformats.org/drawingml/2006/main">
              <a:ext uri="{FF2B5EF4-FFF2-40B4-BE49-F238E27FC236}">
                <a16:creationId xmlns:a16="http://schemas.microsoft.com/office/drawing/2014/main" id="{03338598-05AA-4B8B-9FEC-5F8CD71630A2}"/>
              </a:ext>
            </a:extLst>
          </p:cNvPr>
          <p:cNvSpPr>
            <a:spLocks xmlns:a="http://schemas.openxmlformats.org/drawingml/2006/main" noGrp="1"/>
          </p:cNvSpPr>
          <p:nvPr/>
        </p:nvSpPr>
        <p:spPr>
          <a:xfrm xmlns:a="http://schemas.openxmlformats.org/drawingml/2006/main">
            <a:off x="704850" y="424815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038ACAB0-924C-4F66-8FB4-997D8967F740}"/>
              </a:ext>
            </a:extLst>
          </p:cNvPr>
          <p:cNvSpPr>
            <a:spLocks xmlns:a="http://schemas.openxmlformats.org/drawingml/2006/main" noGrp="1"/>
          </p:cNvSpPr>
          <p:nvPr/>
        </p:nvSpPr>
        <p:spPr>
          <a:xfrm xmlns:a="http://schemas.openxmlformats.org/drawingml/2006/main">
            <a:off x="1428750" y="420052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Record a separate mock receipt from the simulator</a:t>
            </a:r>
          </a:p>
        </p:txBody>
      </p:sp>
      <p:sp>
        <p:nvSpPr>
          <p:cNvPr id="10" name="">
            <a:extLst xmlns:a="http://schemas.openxmlformats.org/drawingml/2006/main">
              <a:ext uri="{FF2B5EF4-FFF2-40B4-BE49-F238E27FC236}">
                <a16:creationId xmlns:a16="http://schemas.microsoft.com/office/drawing/2014/main" id="{BFE027D5-0F25-46D4-90E5-72E11149351F}"/>
              </a:ext>
            </a:extLst>
          </p:cNvPr>
          <p:cNvSpPr>
            <a:spLocks xmlns:a="http://schemas.openxmlformats.org/drawingml/2006/main" noGrp="1"/>
          </p:cNvSpPr>
          <p:nvPr/>
        </p:nvSpPr>
        <p:spPr>
          <a:xfrm xmlns:a="http://schemas.openxmlformats.org/drawingml/2006/main">
            <a:off x="704850" y="502920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59A2C608-D845-4FD6-B7AB-2F4D2289ADED}"/>
              </a:ext>
            </a:extLst>
          </p:cNvPr>
          <p:cNvSpPr>
            <a:spLocks xmlns:a="http://schemas.openxmlformats.org/drawingml/2006/main" noGrp="1"/>
          </p:cNvSpPr>
          <p:nvPr/>
        </p:nvSpPr>
        <p:spPr>
          <a:xfrm xmlns:a="http://schemas.openxmlformats.org/drawingml/2006/main">
            <a:off x="1428750" y="498157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Reconcile to CONFIRMED and inspect the audit history</a:t>
            </a:r>
          </a:p>
        </p:txBody>
      </p:sp>
      <p:sp>
        <p:nvSpPr>
          <p:cNvPr id="12" name="">
            <a:extLst xmlns:a="http://schemas.openxmlformats.org/drawingml/2006/main">
              <a:ext uri="{FF2B5EF4-FFF2-40B4-BE49-F238E27FC236}">
                <a16:creationId xmlns:a16="http://schemas.microsoft.com/office/drawing/2014/main" id="{9BF1C93A-0AC8-4246-9078-F03CC2F02BD8}"/>
              </a:ext>
            </a:extLst>
          </p:cNvPr>
          <p:cNvSpPr>
            <a:spLocks xmlns:a="http://schemas.openxmlformats.org/drawingml/2006/main" noGrp="1"/>
          </p:cNvSpPr>
          <p:nvPr/>
        </p:nvSpPr>
        <p:spPr>
          <a:xfrm xmlns:a="http://schemas.openxmlformats.org/drawingml/2006/main">
            <a:off x="685800" y="62960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D665E"/>
                </a:solidFill>
                <a:latin typeface="Arial"/>
                <a:ea typeface="Arial"/>
                <a:cs typeface="Arial"/>
              </a:defRPr>
            </a:defPPr>
          </a:lstStyle>
          <a:p xmlns:a="http://schemas.openxmlformats.org/drawingml/2006/main">
            <a:pPr>
              <a:defRPr sz="1125" b="0">
                <a:solidFill>
                  <a:srgbClr val="5D665E"/>
                </a:solidFill>
                <a:latin typeface="Arial"/>
                <a:ea typeface="Arial"/>
                <a:cs typeface="Arial"/>
              </a:defRPr>
            </a:pPr>
            <a:r>
              <a:rPr sz="1125" b="0">
                <a:solidFill>
                  <a:srgbClr val="5D665E"/>
                </a:solidFill>
                <a:latin typeface="Arial"/>
                <a:ea typeface="Arial"/>
                <a:cs typeface="Arial"/>
              </a:rPr>
              <a:t>Independent synthetic reference · 16 October 2026</a:t>
            </a:r>
          </a:p>
        </p:txBody>
      </p:sp>
      <p:sp>
        <p:nvSpPr>
          <p:cNvPr id="13" name="">
            <a:extLst xmlns:a="http://schemas.openxmlformats.org/drawingml/2006/main">
              <a:ext uri="{FF2B5EF4-FFF2-40B4-BE49-F238E27FC236}">
                <a16:creationId xmlns:a16="http://schemas.microsoft.com/office/drawing/2014/main" id="{CA55B634-D91B-47BF-8BA2-7A7E7DFA1CE2}"/>
              </a:ext>
            </a:extLst>
          </p:cNvPr>
          <p:cNvSpPr>
            <a:spLocks xmlns:a="http://schemas.openxmlformats.org/drawingml/2006/main" noGrp="1"/>
          </p:cNvSpPr>
          <p:nvPr/>
        </p:nvSpPr>
        <p:spPr>
          <a:xfrm xmlns:a="http://schemas.openxmlformats.org/drawingml/2006/main">
            <a:off x="10763250" y="629602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D665E"/>
                </a:solidFill>
                <a:latin typeface="Arial"/>
                <a:ea typeface="Arial"/>
                <a:cs typeface="Arial"/>
              </a:defRPr>
            </a:defPPr>
          </a:lstStyle>
          <a:p xmlns:a="http://schemas.openxmlformats.org/drawingml/2006/main">
            <a:pPr>
              <a:defRPr sz="1125" b="0">
                <a:solidFill>
                  <a:srgbClr val="5D665E"/>
                </a:solidFill>
                <a:latin typeface="Arial"/>
                <a:ea typeface="Arial"/>
                <a:cs typeface="Arial"/>
              </a:defRPr>
            </a:pPr>
            <a:r>
              <a:rPr sz="1125" b="0">
                <a:solidFill>
                  <a:srgbClr val="5D665E"/>
                </a:solidFill>
                <a:latin typeface="Arial"/>
                <a:ea typeface="Arial"/>
                <a:cs typeface="Arial"/>
              </a:rPr>
              <a:t>5 / 9</a:t>
            </a:r>
          </a:p>
        </p:txBody>
      </p:sp>
    </p:spTree>
    <p:extLst>
      <p:ext uri="{BB962C8B-B14F-4D97-AF65-F5344CB8AC3E}">
        <p14:creationId xmlns:p14="http://schemas.microsoft.com/office/powerpoint/2010/main" val="120196669"/>
      </p:ext>
    </p:extLst>
  </p:cSld>
</p:sld>
</file>

<file path=ppt/slides/slide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6B5C71A-7E38-4060-8132-2AFA76FEE7CC}"/>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254C3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F13419-4ACD-467D-B5A6-0D4676B03C6A}"/>
              </a:ext>
            </a:extLst>
          </p:cNvPr>
          <p:cNvSpPr>
            <a:spLocks xmlns:a="http://schemas.openxmlformats.org/drawingml/2006/main" noGrp="1"/>
          </p:cNvSpPr>
          <p:nvPr/>
        </p:nvSpPr>
        <p:spPr>
          <a:xfrm xmlns:a="http://schemas.openxmlformats.org/drawingml/2006/main">
            <a:off x="666750" y="5143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1"/>
                </a:solidFill>
                <a:latin typeface="Arial"/>
                <a:ea typeface="Arial"/>
                <a:cs typeface="Arial"/>
              </a:defRPr>
            </a:defPPr>
          </a:lstStyle>
          <a:p xmlns:a="http://schemas.openxmlformats.org/drawingml/2006/main">
            <a:pPr>
              <a:defRPr sz="3375" b="1">
                <a:solidFill>
                  <a:srgbClr val="183D31"/>
                </a:solidFill>
                <a:latin typeface="Arial"/>
                <a:ea typeface="Arial"/>
                <a:cs typeface="Arial"/>
              </a:defRPr>
            </a:pPr>
            <a:r>
              <a:rPr sz="3375" b="1">
                <a:solidFill>
                  <a:srgbClr val="183D31"/>
                </a:solidFill>
                <a:latin typeface="Arial"/>
                <a:ea typeface="Arial"/>
                <a:cs typeface="Arial"/>
              </a:rPr>
              <a:t>AI proposes structured data; policy controls the action</a:t>
            </a:r>
          </a:p>
        </p:txBody>
      </p:sp>
      <p:sp>
        <p:nvSpPr>
          <p:cNvPr id="3" name="">
            <a:extLst xmlns:a="http://schemas.openxmlformats.org/drawingml/2006/main">
              <a:ext uri="{FF2B5EF4-FFF2-40B4-BE49-F238E27FC236}">
                <a16:creationId xmlns:a16="http://schemas.microsoft.com/office/drawing/2014/main" id="{002F2106-7354-4477-B041-22F7CDFEEA1D}"/>
              </a:ext>
            </a:extLst>
          </p:cNvPr>
          <p:cNvSpPr>
            <a:spLocks xmlns:a="http://schemas.openxmlformats.org/drawingml/2006/main" noGrp="1"/>
          </p:cNvSpPr>
          <p:nvPr/>
        </p:nvSpPr>
        <p:spPr>
          <a:xfrm xmlns:a="http://schemas.openxmlformats.org/drawingml/2006/main">
            <a:off x="685800" y="17240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B5B51"/>
                </a:solidFill>
                <a:latin typeface="Arial"/>
                <a:ea typeface="Arial"/>
                <a:cs typeface="Arial"/>
              </a:defRPr>
            </a:defPPr>
          </a:lstStyle>
          <a:p xmlns:a="http://schemas.openxmlformats.org/drawingml/2006/main">
            <a:pPr>
              <a:defRPr sz="1875" b="0">
                <a:solidFill>
                  <a:srgbClr val="4B5B51"/>
                </a:solidFill>
                <a:latin typeface="Arial"/>
                <a:ea typeface="Arial"/>
                <a:cs typeface="Arial"/>
              </a:defRPr>
            </a:pPr>
            <a:r>
              <a:rPr sz="1875" b="0">
                <a:solidFill>
                  <a:srgbClr val="4B5B51"/>
                </a:solidFill>
                <a:latin typeface="Arial"/>
                <a:ea typeface="Arial"/>
                <a:cs typeface="Arial"/>
              </a:rPr>
              <a:t>Provider adapters and durable recovery have explicit boundaries</a:t>
            </a:r>
          </a:p>
        </p:txBody>
      </p:sp>
      <p:sp>
        <p:nvSpPr>
          <p:cNvPr id="4" name="">
            <a:extLst xmlns:a="http://schemas.openxmlformats.org/drawingml/2006/main">
              <a:ext uri="{FF2B5EF4-FFF2-40B4-BE49-F238E27FC236}">
                <a16:creationId xmlns:a16="http://schemas.microsoft.com/office/drawing/2014/main" id="{E4BEE3DA-060F-4017-8080-D145287E581B}"/>
              </a:ext>
            </a:extLst>
          </p:cNvPr>
          <p:cNvSpPr>
            <a:spLocks xmlns:a="http://schemas.openxmlformats.org/drawingml/2006/main" noGrp="1"/>
          </p:cNvSpPr>
          <p:nvPr/>
        </p:nvSpPr>
        <p:spPr>
          <a:xfrm xmlns:a="http://schemas.openxmlformats.org/drawingml/2006/main">
            <a:off x="704850" y="268605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126AB55-D7F3-4947-B481-22724BECACBA}"/>
              </a:ext>
            </a:extLst>
          </p:cNvPr>
          <p:cNvSpPr>
            <a:spLocks xmlns:a="http://schemas.openxmlformats.org/drawingml/2006/main" noGrp="1"/>
          </p:cNvSpPr>
          <p:nvPr/>
        </p:nvSpPr>
        <p:spPr>
          <a:xfrm xmlns:a="http://schemas.openxmlformats.org/drawingml/2006/main">
            <a:off x="1428750" y="263842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OpenAI and Anthropic adapters validate schema and provenance</a:t>
            </a:r>
          </a:p>
        </p:txBody>
      </p:sp>
      <p:sp>
        <p:nvSpPr>
          <p:cNvPr id="6" name="">
            <a:extLst xmlns:a="http://schemas.openxmlformats.org/drawingml/2006/main">
              <a:ext uri="{FF2B5EF4-FFF2-40B4-BE49-F238E27FC236}">
                <a16:creationId xmlns:a16="http://schemas.microsoft.com/office/drawing/2014/main" id="{FC53A54D-9F6E-4FFC-9466-FAF48A3A06CB}"/>
              </a:ext>
            </a:extLst>
          </p:cNvPr>
          <p:cNvSpPr>
            <a:spLocks xmlns:a="http://schemas.openxmlformats.org/drawingml/2006/main" noGrp="1"/>
          </p:cNvSpPr>
          <p:nvPr/>
        </p:nvSpPr>
        <p:spPr>
          <a:xfrm xmlns:a="http://schemas.openxmlformats.org/drawingml/2006/main">
            <a:off x="704850" y="346710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9594059-894C-4EA7-9F0D-96B213EE3A56}"/>
              </a:ext>
            </a:extLst>
          </p:cNvPr>
          <p:cNvSpPr>
            <a:spLocks xmlns:a="http://schemas.openxmlformats.org/drawingml/2006/main" noGrp="1"/>
          </p:cNvSpPr>
          <p:nvPr/>
        </p:nvSpPr>
        <p:spPr>
          <a:xfrm xmlns:a="http://schemas.openxmlformats.org/drawingml/2006/main">
            <a:off x="1428750" y="341947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LangGraph supports durable conversational recovery</a:t>
            </a:r>
          </a:p>
        </p:txBody>
      </p:sp>
      <p:sp>
        <p:nvSpPr>
          <p:cNvPr id="8" name="">
            <a:extLst xmlns:a="http://schemas.openxmlformats.org/drawingml/2006/main">
              <a:ext uri="{FF2B5EF4-FFF2-40B4-BE49-F238E27FC236}">
                <a16:creationId xmlns:a16="http://schemas.microsoft.com/office/drawing/2014/main" id="{5331692D-4D84-4D0E-868C-B740388DE700}"/>
              </a:ext>
            </a:extLst>
          </p:cNvPr>
          <p:cNvSpPr>
            <a:spLocks xmlns:a="http://schemas.openxmlformats.org/drawingml/2006/main" noGrp="1"/>
          </p:cNvSpPr>
          <p:nvPr/>
        </p:nvSpPr>
        <p:spPr>
          <a:xfrm xmlns:a="http://schemas.openxmlformats.org/drawingml/2006/main">
            <a:off x="704850" y="424815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C4E436F6-E0E1-4DF6-8AAD-E64E696141BA}"/>
              </a:ext>
            </a:extLst>
          </p:cNvPr>
          <p:cNvSpPr>
            <a:spLocks xmlns:a="http://schemas.openxmlformats.org/drawingml/2006/main" noGrp="1"/>
          </p:cNvSpPr>
          <p:nvPr/>
        </p:nvSpPr>
        <p:spPr>
          <a:xfrm xmlns:a="http://schemas.openxmlformats.org/drawingml/2006/main">
            <a:off x="1428750" y="420052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Uncertain extraction and conflicting evidence require review</a:t>
            </a:r>
          </a:p>
        </p:txBody>
      </p:sp>
      <p:sp>
        <p:nvSpPr>
          <p:cNvPr id="10" name="">
            <a:extLst xmlns:a="http://schemas.openxmlformats.org/drawingml/2006/main">
              <a:ext uri="{FF2B5EF4-FFF2-40B4-BE49-F238E27FC236}">
                <a16:creationId xmlns:a16="http://schemas.microsoft.com/office/drawing/2014/main" id="{7DB27786-E6EE-4E66-8374-AC7A0E170D4E}"/>
              </a:ext>
            </a:extLst>
          </p:cNvPr>
          <p:cNvSpPr>
            <a:spLocks xmlns:a="http://schemas.openxmlformats.org/drawingml/2006/main" noGrp="1"/>
          </p:cNvSpPr>
          <p:nvPr/>
        </p:nvSpPr>
        <p:spPr>
          <a:xfrm xmlns:a="http://schemas.openxmlformats.org/drawingml/2006/main">
            <a:off x="704850" y="502920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C13465A2-21F4-4DF3-9A22-E4A3FDFD4183}"/>
              </a:ext>
            </a:extLst>
          </p:cNvPr>
          <p:cNvSpPr>
            <a:spLocks xmlns:a="http://schemas.openxmlformats.org/drawingml/2006/main" noGrp="1"/>
          </p:cNvSpPr>
          <p:nvPr/>
        </p:nvSpPr>
        <p:spPr>
          <a:xfrm xmlns:a="http://schemas.openxmlformats.org/drawingml/2006/main">
            <a:off x="1428750" y="498157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Speech and OCR remain unsupported or human-assisted</a:t>
            </a:r>
          </a:p>
        </p:txBody>
      </p:sp>
      <p:sp>
        <p:nvSpPr>
          <p:cNvPr id="12" name="">
            <a:extLst xmlns:a="http://schemas.openxmlformats.org/drawingml/2006/main">
              <a:ext uri="{FF2B5EF4-FFF2-40B4-BE49-F238E27FC236}">
                <a16:creationId xmlns:a16="http://schemas.microsoft.com/office/drawing/2014/main" id="{641D25F0-44C9-416A-94FF-A6BEA6171B81}"/>
              </a:ext>
            </a:extLst>
          </p:cNvPr>
          <p:cNvSpPr>
            <a:spLocks xmlns:a="http://schemas.openxmlformats.org/drawingml/2006/main" noGrp="1"/>
          </p:cNvSpPr>
          <p:nvPr/>
        </p:nvSpPr>
        <p:spPr>
          <a:xfrm xmlns:a="http://schemas.openxmlformats.org/drawingml/2006/main">
            <a:off x="685800" y="62960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D665E"/>
                </a:solidFill>
                <a:latin typeface="Arial"/>
                <a:ea typeface="Arial"/>
                <a:cs typeface="Arial"/>
              </a:defRPr>
            </a:defPPr>
          </a:lstStyle>
          <a:p xmlns:a="http://schemas.openxmlformats.org/drawingml/2006/main">
            <a:pPr>
              <a:defRPr sz="1125" b="0">
                <a:solidFill>
                  <a:srgbClr val="5D665E"/>
                </a:solidFill>
                <a:latin typeface="Arial"/>
                <a:ea typeface="Arial"/>
                <a:cs typeface="Arial"/>
              </a:defRPr>
            </a:pPr>
            <a:r>
              <a:rPr sz="1125" b="0">
                <a:solidFill>
                  <a:srgbClr val="5D665E"/>
                </a:solidFill>
                <a:latin typeface="Arial"/>
                <a:ea typeface="Arial"/>
                <a:cs typeface="Arial"/>
              </a:rPr>
              <a:t>Independent synthetic reference · 16 October 2026</a:t>
            </a:r>
          </a:p>
        </p:txBody>
      </p:sp>
      <p:sp>
        <p:nvSpPr>
          <p:cNvPr id="13" name="">
            <a:extLst xmlns:a="http://schemas.openxmlformats.org/drawingml/2006/main">
              <a:ext uri="{FF2B5EF4-FFF2-40B4-BE49-F238E27FC236}">
                <a16:creationId xmlns:a16="http://schemas.microsoft.com/office/drawing/2014/main" id="{FD41584A-EB1A-4676-B409-ACB4B3DC05FE}"/>
              </a:ext>
            </a:extLst>
          </p:cNvPr>
          <p:cNvSpPr>
            <a:spLocks xmlns:a="http://schemas.openxmlformats.org/drawingml/2006/main" noGrp="1"/>
          </p:cNvSpPr>
          <p:nvPr/>
        </p:nvSpPr>
        <p:spPr>
          <a:xfrm xmlns:a="http://schemas.openxmlformats.org/drawingml/2006/main">
            <a:off x="10763250" y="629602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D665E"/>
                </a:solidFill>
                <a:latin typeface="Arial"/>
                <a:ea typeface="Arial"/>
                <a:cs typeface="Arial"/>
              </a:defRPr>
            </a:defPPr>
          </a:lstStyle>
          <a:p xmlns:a="http://schemas.openxmlformats.org/drawingml/2006/main">
            <a:pPr>
              <a:defRPr sz="1125" b="0">
                <a:solidFill>
                  <a:srgbClr val="5D665E"/>
                </a:solidFill>
                <a:latin typeface="Arial"/>
                <a:ea typeface="Arial"/>
                <a:cs typeface="Arial"/>
              </a:defRPr>
            </a:pPr>
            <a:r>
              <a:rPr sz="1125" b="0">
                <a:solidFill>
                  <a:srgbClr val="5D665E"/>
                </a:solidFill>
                <a:latin typeface="Arial"/>
                <a:ea typeface="Arial"/>
                <a:cs typeface="Arial"/>
              </a:rPr>
              <a:t>6 / 9</a:t>
            </a:r>
          </a:p>
        </p:txBody>
      </p:sp>
    </p:spTree>
    <p:extLst>
      <p:ext uri="{BB962C8B-B14F-4D97-AF65-F5344CB8AC3E}">
        <p14:creationId xmlns:p14="http://schemas.microsoft.com/office/powerpoint/2010/main" val="281555829"/>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5D85350-4F7D-4E23-9C13-E5265F27E428}"/>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254C3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13B438-E71F-4F4C-87C6-A44F6F2C34E7}"/>
              </a:ext>
            </a:extLst>
          </p:cNvPr>
          <p:cNvSpPr>
            <a:spLocks xmlns:a="http://schemas.openxmlformats.org/drawingml/2006/main" noGrp="1"/>
          </p:cNvSpPr>
          <p:nvPr/>
        </p:nvSpPr>
        <p:spPr>
          <a:xfrm xmlns:a="http://schemas.openxmlformats.org/drawingml/2006/main">
            <a:off x="666750" y="5143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1"/>
                </a:solidFill>
                <a:latin typeface="Arial"/>
                <a:ea typeface="Arial"/>
                <a:cs typeface="Arial"/>
              </a:defRPr>
            </a:defPPr>
          </a:lstStyle>
          <a:p xmlns:a="http://schemas.openxmlformats.org/drawingml/2006/main">
            <a:pPr>
              <a:defRPr sz="3375" b="1">
                <a:solidFill>
                  <a:srgbClr val="183D31"/>
                </a:solidFill>
                <a:latin typeface="Arial"/>
                <a:ea typeface="Arial"/>
                <a:cs typeface="Arial"/>
              </a:defRPr>
            </a:pPr>
            <a:r>
              <a:rPr sz="3375" b="1">
                <a:solidFill>
                  <a:srgbClr val="183D31"/>
                </a:solidFill>
                <a:latin typeface="Arial"/>
                <a:ea typeface="Arial"/>
                <a:cs typeface="Arial"/>
              </a:rPr>
              <a:t>Verification covers the workflow and its failures</a:t>
            </a:r>
          </a:p>
        </p:txBody>
      </p:sp>
      <p:sp>
        <p:nvSpPr>
          <p:cNvPr id="3" name="">
            <a:extLst xmlns:a="http://schemas.openxmlformats.org/drawingml/2006/main">
              <a:ext uri="{FF2B5EF4-FFF2-40B4-BE49-F238E27FC236}">
                <a16:creationId xmlns:a16="http://schemas.microsoft.com/office/drawing/2014/main" id="{7C97A69E-FF58-48FF-A4F8-0C5FB0906EC3}"/>
              </a:ext>
            </a:extLst>
          </p:cNvPr>
          <p:cNvSpPr>
            <a:spLocks xmlns:a="http://schemas.openxmlformats.org/drawingml/2006/main" noGrp="1"/>
          </p:cNvSpPr>
          <p:nvPr/>
        </p:nvSpPr>
        <p:spPr>
          <a:xfrm xmlns:a="http://schemas.openxmlformats.org/drawingml/2006/main">
            <a:off x="685800" y="17240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B5B51"/>
                </a:solidFill>
                <a:latin typeface="Arial"/>
                <a:ea typeface="Arial"/>
                <a:cs typeface="Arial"/>
              </a:defRPr>
            </a:defPPr>
          </a:lstStyle>
          <a:p xmlns:a="http://schemas.openxmlformats.org/drawingml/2006/main">
            <a:pPr>
              <a:defRPr sz="1875" b="0">
                <a:solidFill>
                  <a:srgbClr val="4B5B51"/>
                </a:solidFill>
                <a:latin typeface="Arial"/>
                <a:ea typeface="Arial"/>
                <a:cs typeface="Arial"/>
              </a:defRPr>
            </a:pPr>
            <a:r>
              <a:rPr sz="1875" b="0">
                <a:solidFill>
                  <a:srgbClr val="4B5B51"/>
                </a:solidFill>
                <a:latin typeface="Arial"/>
                <a:ea typeface="Arial"/>
                <a:cs typeface="Arial"/>
              </a:rPr>
              <a:t>Both CI workflows passed at application checkpoint 8c27c14</a:t>
            </a:r>
          </a:p>
        </p:txBody>
      </p:sp>
      <p:sp>
        <p:nvSpPr>
          <p:cNvPr id="4" name="">
            <a:extLst xmlns:a="http://schemas.openxmlformats.org/drawingml/2006/main">
              <a:ext uri="{FF2B5EF4-FFF2-40B4-BE49-F238E27FC236}">
                <a16:creationId xmlns:a16="http://schemas.microsoft.com/office/drawing/2014/main" id="{271BBA95-92E8-4A14-AEBB-5D17097E43F2}"/>
              </a:ext>
            </a:extLst>
          </p:cNvPr>
          <p:cNvSpPr>
            <a:spLocks xmlns:a="http://schemas.openxmlformats.org/drawingml/2006/main" noGrp="1"/>
          </p:cNvSpPr>
          <p:nvPr/>
        </p:nvSpPr>
        <p:spPr>
          <a:xfrm xmlns:a="http://schemas.openxmlformats.org/drawingml/2006/main">
            <a:off x="704850" y="268605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8BB8753-EC10-451D-A284-1939F6E0CC2B}"/>
              </a:ext>
            </a:extLst>
          </p:cNvPr>
          <p:cNvSpPr>
            <a:spLocks xmlns:a="http://schemas.openxmlformats.org/drawingml/2006/main" noGrp="1"/>
          </p:cNvSpPr>
          <p:nvPr/>
        </p:nvSpPr>
        <p:spPr>
          <a:xfrm xmlns:a="http://schemas.openxmlformats.org/drawingml/2006/main">
            <a:off x="1428750" y="263842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Java/PostgreSQL tests, Python tests and dashboard regression</a:t>
            </a:r>
          </a:p>
        </p:txBody>
      </p:sp>
      <p:sp>
        <p:nvSpPr>
          <p:cNvPr id="6" name="">
            <a:extLst xmlns:a="http://schemas.openxmlformats.org/drawingml/2006/main">
              <a:ext uri="{FF2B5EF4-FFF2-40B4-BE49-F238E27FC236}">
                <a16:creationId xmlns:a16="http://schemas.microsoft.com/office/drawing/2014/main" id="{5BDB9DAC-2FC1-427E-8618-53D4243A69E1}"/>
              </a:ext>
            </a:extLst>
          </p:cNvPr>
          <p:cNvSpPr>
            <a:spLocks xmlns:a="http://schemas.openxmlformats.org/drawingml/2006/main" noGrp="1"/>
          </p:cNvSpPr>
          <p:nvPr/>
        </p:nvSpPr>
        <p:spPr>
          <a:xfrm xmlns:a="http://schemas.openxmlformats.org/drawingml/2006/main">
            <a:off x="704850" y="346710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A2B6D30B-5B89-4B20-9D56-C13A468BFBAF}"/>
              </a:ext>
            </a:extLst>
          </p:cNvPr>
          <p:cNvSpPr>
            <a:spLocks xmlns:a="http://schemas.openxmlformats.org/drawingml/2006/main" noGrp="1"/>
          </p:cNvSpPr>
          <p:nvPr/>
        </p:nvSpPr>
        <p:spPr>
          <a:xfrm xmlns:a="http://schemas.openxmlformats.org/drawingml/2006/main">
            <a:off x="1428750" y="341947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Authenticated cloud smoke and all six synthetic E2E phases</a:t>
            </a:r>
          </a:p>
        </p:txBody>
      </p:sp>
      <p:sp>
        <p:nvSpPr>
          <p:cNvPr id="8" name="">
            <a:extLst xmlns:a="http://schemas.openxmlformats.org/drawingml/2006/main">
              <a:ext uri="{FF2B5EF4-FFF2-40B4-BE49-F238E27FC236}">
                <a16:creationId xmlns:a16="http://schemas.microsoft.com/office/drawing/2014/main" id="{93C7B025-BE1C-4741-9835-466205E87A35}"/>
              </a:ext>
            </a:extLst>
          </p:cNvPr>
          <p:cNvSpPr>
            <a:spLocks xmlns:a="http://schemas.openxmlformats.org/drawingml/2006/main" noGrp="1"/>
          </p:cNvSpPr>
          <p:nvPr/>
        </p:nvSpPr>
        <p:spPr>
          <a:xfrm xmlns:a="http://schemas.openxmlformats.org/drawingml/2006/main">
            <a:off x="704850" y="424815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9033FF2E-B1DA-4F88-8033-B7A1D3755A30}"/>
              </a:ext>
            </a:extLst>
          </p:cNvPr>
          <p:cNvSpPr>
            <a:spLocks xmlns:a="http://schemas.openxmlformats.org/drawingml/2006/main" noGrp="1"/>
          </p:cNvSpPr>
          <p:nvPr/>
        </p:nvSpPr>
        <p:spPr>
          <a:xfrm xmlns:a="http://schemas.openxmlformats.org/drawingml/2006/main">
            <a:off x="1428750" y="420052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Container builds, dependency scans and Kubernetes demo checks</a:t>
            </a:r>
          </a:p>
        </p:txBody>
      </p:sp>
      <p:sp>
        <p:nvSpPr>
          <p:cNvPr id="10" name="">
            <a:extLst xmlns:a="http://schemas.openxmlformats.org/drawingml/2006/main">
              <a:ext uri="{FF2B5EF4-FFF2-40B4-BE49-F238E27FC236}">
                <a16:creationId xmlns:a16="http://schemas.microsoft.com/office/drawing/2014/main" id="{5C547D45-3548-4623-BF4A-2E64676A46C3}"/>
              </a:ext>
            </a:extLst>
          </p:cNvPr>
          <p:cNvSpPr>
            <a:spLocks xmlns:a="http://schemas.openxmlformats.org/drawingml/2006/main" noGrp="1"/>
          </p:cNvSpPr>
          <p:nvPr/>
        </p:nvSpPr>
        <p:spPr>
          <a:xfrm xmlns:a="http://schemas.openxmlformats.org/drawingml/2006/main">
            <a:off x="704850" y="502920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36A9DAF5-98E9-4B8E-946A-3BD573C45AEA}"/>
              </a:ext>
            </a:extLst>
          </p:cNvPr>
          <p:cNvSpPr>
            <a:spLocks xmlns:a="http://schemas.openxmlformats.org/drawingml/2006/main" noGrp="1"/>
          </p:cNvSpPr>
          <p:nvPr/>
        </p:nvSpPr>
        <p:spPr>
          <a:xfrm xmlns:a="http://schemas.openxmlformats.org/drawingml/2006/main">
            <a:off x="1428750" y="498157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Release 0.2.0 has separate source and checksum evidence</a:t>
            </a:r>
          </a:p>
        </p:txBody>
      </p:sp>
      <p:sp>
        <p:nvSpPr>
          <p:cNvPr id="12" name="">
            <a:extLst xmlns:a="http://schemas.openxmlformats.org/drawingml/2006/main">
              <a:ext uri="{FF2B5EF4-FFF2-40B4-BE49-F238E27FC236}">
                <a16:creationId xmlns:a16="http://schemas.microsoft.com/office/drawing/2014/main" id="{6648D315-AE14-4683-8B4B-A21B1FACA5DB}"/>
              </a:ext>
            </a:extLst>
          </p:cNvPr>
          <p:cNvSpPr>
            <a:spLocks xmlns:a="http://schemas.openxmlformats.org/drawingml/2006/main" noGrp="1"/>
          </p:cNvSpPr>
          <p:nvPr/>
        </p:nvSpPr>
        <p:spPr>
          <a:xfrm xmlns:a="http://schemas.openxmlformats.org/drawingml/2006/main">
            <a:off x="685800" y="62960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D665E"/>
                </a:solidFill>
                <a:latin typeface="Arial"/>
                <a:ea typeface="Arial"/>
                <a:cs typeface="Arial"/>
              </a:defRPr>
            </a:defPPr>
          </a:lstStyle>
          <a:p xmlns:a="http://schemas.openxmlformats.org/drawingml/2006/main">
            <a:pPr>
              <a:defRPr sz="1125" b="0">
                <a:solidFill>
                  <a:srgbClr val="5D665E"/>
                </a:solidFill>
                <a:latin typeface="Arial"/>
                <a:ea typeface="Arial"/>
                <a:cs typeface="Arial"/>
              </a:defRPr>
            </a:pPr>
            <a:r>
              <a:rPr sz="1125" b="0">
                <a:solidFill>
                  <a:srgbClr val="5D665E"/>
                </a:solidFill>
                <a:latin typeface="Arial"/>
                <a:ea typeface="Arial"/>
                <a:cs typeface="Arial"/>
              </a:rPr>
              <a:t>Independent synthetic reference · 16 October 2026</a:t>
            </a:r>
          </a:p>
        </p:txBody>
      </p:sp>
      <p:sp>
        <p:nvSpPr>
          <p:cNvPr id="13" name="">
            <a:extLst xmlns:a="http://schemas.openxmlformats.org/drawingml/2006/main">
              <a:ext uri="{FF2B5EF4-FFF2-40B4-BE49-F238E27FC236}">
                <a16:creationId xmlns:a16="http://schemas.microsoft.com/office/drawing/2014/main" id="{1B3FE549-14FB-4E53-9FCF-785AF6BE4564}"/>
              </a:ext>
            </a:extLst>
          </p:cNvPr>
          <p:cNvSpPr>
            <a:spLocks xmlns:a="http://schemas.openxmlformats.org/drawingml/2006/main" noGrp="1"/>
          </p:cNvSpPr>
          <p:nvPr/>
        </p:nvSpPr>
        <p:spPr>
          <a:xfrm xmlns:a="http://schemas.openxmlformats.org/drawingml/2006/main">
            <a:off x="10763250" y="629602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D665E"/>
                </a:solidFill>
                <a:latin typeface="Arial"/>
                <a:ea typeface="Arial"/>
                <a:cs typeface="Arial"/>
              </a:defRPr>
            </a:defPPr>
          </a:lstStyle>
          <a:p xmlns:a="http://schemas.openxmlformats.org/drawingml/2006/main">
            <a:pPr>
              <a:defRPr sz="1125" b="0">
                <a:solidFill>
                  <a:srgbClr val="5D665E"/>
                </a:solidFill>
                <a:latin typeface="Arial"/>
                <a:ea typeface="Arial"/>
                <a:cs typeface="Arial"/>
              </a:defRPr>
            </a:pPr>
            <a:r>
              <a:rPr sz="1125" b="0">
                <a:solidFill>
                  <a:srgbClr val="5D665E"/>
                </a:solidFill>
                <a:latin typeface="Arial"/>
                <a:ea typeface="Arial"/>
                <a:cs typeface="Arial"/>
              </a:rPr>
              <a:t>7 / 9</a:t>
            </a:r>
          </a:p>
        </p:txBody>
      </p:sp>
    </p:spTree>
    <p:extLst>
      <p:ext uri="{BB962C8B-B14F-4D97-AF65-F5344CB8AC3E}">
        <p14:creationId xmlns:p14="http://schemas.microsoft.com/office/powerpoint/2010/main" val="1848763122"/>
      </p:ext>
    </p:extLst>
  </p:cSld>
</p:sld>
</file>

<file path=ppt/slides/slide8.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9E3C556-9D8F-499C-89B9-E74F0A39F044}"/>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254C3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CE09FE-8130-4EDB-B516-B7CD07247B77}"/>
              </a:ext>
            </a:extLst>
          </p:cNvPr>
          <p:cNvSpPr>
            <a:spLocks xmlns:a="http://schemas.openxmlformats.org/drawingml/2006/main" noGrp="1"/>
          </p:cNvSpPr>
          <p:nvPr/>
        </p:nvSpPr>
        <p:spPr>
          <a:xfrm xmlns:a="http://schemas.openxmlformats.org/drawingml/2006/main">
            <a:off x="666750" y="5143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1"/>
                </a:solidFill>
                <a:latin typeface="Arial"/>
                <a:ea typeface="Arial"/>
                <a:cs typeface="Arial"/>
              </a:defRPr>
            </a:defPPr>
          </a:lstStyle>
          <a:p xmlns:a="http://schemas.openxmlformats.org/drawingml/2006/main">
            <a:pPr>
              <a:defRPr sz="3375" b="1">
                <a:solidFill>
                  <a:srgbClr val="183D31"/>
                </a:solidFill>
                <a:latin typeface="Arial"/>
                <a:ea typeface="Arial"/>
                <a:cs typeface="Arial"/>
              </a:defRPr>
            </a:pPr>
            <a:r>
              <a:rPr sz="3375" b="1">
                <a:solidFill>
                  <a:srgbClr val="183D31"/>
                </a:solidFill>
                <a:latin typeface="Arial"/>
                <a:ea typeface="Arial"/>
                <a:cs typeface="Arial"/>
              </a:rPr>
              <a:t>Live walkthrough</a:t>
            </a:r>
          </a:p>
        </p:txBody>
      </p:sp>
      <p:sp>
        <p:nvSpPr>
          <p:cNvPr id="3" name="">
            <a:extLst xmlns:a="http://schemas.openxmlformats.org/drawingml/2006/main">
              <a:ext uri="{FF2B5EF4-FFF2-40B4-BE49-F238E27FC236}">
                <a16:creationId xmlns:a16="http://schemas.microsoft.com/office/drawing/2014/main" id="{F41CD48F-E52B-4993-9604-0EB96BC8032F}"/>
              </a:ext>
            </a:extLst>
          </p:cNvPr>
          <p:cNvSpPr>
            <a:spLocks xmlns:a="http://schemas.openxmlformats.org/drawingml/2006/main" noGrp="1"/>
          </p:cNvSpPr>
          <p:nvPr/>
        </p:nvSpPr>
        <p:spPr>
          <a:xfrm xmlns:a="http://schemas.openxmlformats.org/drawingml/2006/main">
            <a:off x="685800" y="17240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B5B51"/>
                </a:solidFill>
                <a:latin typeface="Arial"/>
                <a:ea typeface="Arial"/>
                <a:cs typeface="Arial"/>
              </a:defRPr>
            </a:defPPr>
          </a:lstStyle>
          <a:p xmlns:a="http://schemas.openxmlformats.org/drawingml/2006/main">
            <a:pPr>
              <a:defRPr sz="1875" b="0">
                <a:solidFill>
                  <a:srgbClr val="4B5B51"/>
                </a:solidFill>
                <a:latin typeface="Arial"/>
                <a:ea typeface="Arial"/>
                <a:cs typeface="Arial"/>
              </a:defRPr>
            </a:pPr>
            <a:r>
              <a:rPr sz="1875" b="0">
                <a:solidFill>
                  <a:srgbClr val="4B5B51"/>
                </a:solidFill>
                <a:latin typeface="Arial"/>
                <a:ea typeface="Arial"/>
                <a:cs typeface="Arial"/>
              </a:rPr>
              <a:t>Use a fresh synthetic claim and keep the audit trail visible</a:t>
            </a:r>
          </a:p>
        </p:txBody>
      </p:sp>
      <p:sp>
        <p:nvSpPr>
          <p:cNvPr id="4" name="">
            <a:extLst xmlns:a="http://schemas.openxmlformats.org/drawingml/2006/main">
              <a:ext uri="{FF2B5EF4-FFF2-40B4-BE49-F238E27FC236}">
                <a16:creationId xmlns:a16="http://schemas.microsoft.com/office/drawing/2014/main" id="{3514B475-D12A-460D-82CE-B644D4CDE675}"/>
              </a:ext>
            </a:extLst>
          </p:cNvPr>
          <p:cNvSpPr>
            <a:spLocks xmlns:a="http://schemas.openxmlformats.org/drawingml/2006/main" noGrp="1"/>
          </p:cNvSpPr>
          <p:nvPr/>
        </p:nvSpPr>
        <p:spPr>
          <a:xfrm xmlns:a="http://schemas.openxmlformats.org/drawingml/2006/main">
            <a:off x="704850" y="268605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0879D49-5B8E-4EFF-B99D-51AAC391C326}"/>
              </a:ext>
            </a:extLst>
          </p:cNvPr>
          <p:cNvSpPr>
            <a:spLocks xmlns:a="http://schemas.openxmlformats.org/drawingml/2006/main" noGrp="1"/>
          </p:cNvSpPr>
          <p:nvPr/>
        </p:nvSpPr>
        <p:spPr>
          <a:xfrm xmlns:a="http://schemas.openxmlformats.org/drawingml/2006/main">
            <a:off x="1428750" y="263842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Sign in as approver with the published fixture password</a:t>
            </a:r>
          </a:p>
        </p:txBody>
      </p:sp>
      <p:sp>
        <p:nvSpPr>
          <p:cNvPr id="6" name="">
            <a:extLst xmlns:a="http://schemas.openxmlformats.org/drawingml/2006/main">
              <a:ext uri="{FF2B5EF4-FFF2-40B4-BE49-F238E27FC236}">
                <a16:creationId xmlns:a16="http://schemas.microsoft.com/office/drawing/2014/main" id="{622A960C-92A2-42F1-808A-3A7CC1732644}"/>
              </a:ext>
            </a:extLst>
          </p:cNvPr>
          <p:cNvSpPr>
            <a:spLocks xmlns:a="http://schemas.openxmlformats.org/drawingml/2006/main" noGrp="1"/>
          </p:cNvSpPr>
          <p:nvPr/>
        </p:nvSpPr>
        <p:spPr>
          <a:xfrm xmlns:a="http://schemas.openxmlformats.org/drawingml/2006/main">
            <a:off x="704850" y="346710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5C123A75-6620-46D2-9DC8-5392DE837CC2}"/>
              </a:ext>
            </a:extLst>
          </p:cNvPr>
          <p:cNvSpPr>
            <a:spLocks xmlns:a="http://schemas.openxmlformats.org/drawingml/2006/main" noGrp="1"/>
          </p:cNvSpPr>
          <p:nvPr/>
        </p:nvSpPr>
        <p:spPr>
          <a:xfrm xmlns:a="http://schemas.openxmlformats.org/drawingml/2006/main">
            <a:off x="1428750" y="341947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Create intake, confirm, verify, submit and approve</a:t>
            </a:r>
          </a:p>
        </p:txBody>
      </p:sp>
      <p:sp>
        <p:nvSpPr>
          <p:cNvPr id="8" name="">
            <a:extLst xmlns:a="http://schemas.openxmlformats.org/drawingml/2006/main">
              <a:ext uri="{FF2B5EF4-FFF2-40B4-BE49-F238E27FC236}">
                <a16:creationId xmlns:a16="http://schemas.microsoft.com/office/drawing/2014/main" id="{0C8D2B16-B8CC-4800-B401-C0E0079ABEEA}"/>
              </a:ext>
            </a:extLst>
          </p:cNvPr>
          <p:cNvSpPr>
            <a:spLocks xmlns:a="http://schemas.openxmlformats.org/drawingml/2006/main" noGrp="1"/>
          </p:cNvSpPr>
          <p:nvPr/>
        </p:nvSpPr>
        <p:spPr>
          <a:xfrm xmlns:a="http://schemas.openxmlformats.org/drawingml/2006/main">
            <a:off x="704850" y="424815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23B3F0BB-FA26-4F35-9CC8-2E830796362B}"/>
              </a:ext>
            </a:extLst>
          </p:cNvPr>
          <p:cNvSpPr>
            <a:spLocks xmlns:a="http://schemas.openxmlformats.org/drawingml/2006/main" noGrp="1"/>
          </p:cNvSpPr>
          <p:nvPr/>
        </p:nvSpPr>
        <p:spPr>
          <a:xfrm xmlns:a="http://schemas.openxmlformats.org/drawingml/2006/main">
            <a:off x="1428750" y="420052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Show UNKNOWN recovery using a separate mock receipt</a:t>
            </a:r>
          </a:p>
        </p:txBody>
      </p:sp>
      <p:sp>
        <p:nvSpPr>
          <p:cNvPr id="10" name="">
            <a:extLst xmlns:a="http://schemas.openxmlformats.org/drawingml/2006/main">
              <a:ext uri="{FF2B5EF4-FFF2-40B4-BE49-F238E27FC236}">
                <a16:creationId xmlns:a16="http://schemas.microsoft.com/office/drawing/2014/main" id="{50B96C07-6639-4314-AC5E-E916F6595DD8}"/>
              </a:ext>
            </a:extLst>
          </p:cNvPr>
          <p:cNvSpPr>
            <a:spLocks xmlns:a="http://schemas.openxmlformats.org/drawingml/2006/main" noGrp="1"/>
          </p:cNvSpPr>
          <p:nvPr/>
        </p:nvSpPr>
        <p:spPr>
          <a:xfrm xmlns:a="http://schemas.openxmlformats.org/drawingml/2006/main">
            <a:off x="704850" y="502920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0DB3F0B3-71F1-43AA-8FFA-20B3172276A3}"/>
              </a:ext>
            </a:extLst>
          </p:cNvPr>
          <p:cNvSpPr>
            <a:spLocks xmlns:a="http://schemas.openxmlformats.org/drawingml/2006/main" noGrp="1"/>
          </p:cNvSpPr>
          <p:nvPr/>
        </p:nvSpPr>
        <p:spPr>
          <a:xfrm xmlns:a="http://schemas.openxmlformats.org/drawingml/2006/main">
            <a:off x="1428750" y="498157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Inspect one correction and the resulting state history</a:t>
            </a:r>
          </a:p>
        </p:txBody>
      </p:sp>
      <p:sp>
        <p:nvSpPr>
          <p:cNvPr id="12" name="">
            <a:extLst xmlns:a="http://schemas.openxmlformats.org/drawingml/2006/main">
              <a:ext uri="{FF2B5EF4-FFF2-40B4-BE49-F238E27FC236}">
                <a16:creationId xmlns:a16="http://schemas.microsoft.com/office/drawing/2014/main" id="{BF9ECD57-E156-4337-99BA-602D32A214BF}"/>
              </a:ext>
            </a:extLst>
          </p:cNvPr>
          <p:cNvSpPr>
            <a:spLocks xmlns:a="http://schemas.openxmlformats.org/drawingml/2006/main" noGrp="1"/>
          </p:cNvSpPr>
          <p:nvPr/>
        </p:nvSpPr>
        <p:spPr>
          <a:xfrm xmlns:a="http://schemas.openxmlformats.org/drawingml/2006/main">
            <a:off x="685800" y="62960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D665E"/>
                </a:solidFill>
                <a:latin typeface="Arial"/>
                <a:ea typeface="Arial"/>
                <a:cs typeface="Arial"/>
              </a:defRPr>
            </a:defPPr>
          </a:lstStyle>
          <a:p xmlns:a="http://schemas.openxmlformats.org/drawingml/2006/main">
            <a:pPr>
              <a:defRPr sz="1125" b="0">
                <a:solidFill>
                  <a:srgbClr val="5D665E"/>
                </a:solidFill>
                <a:latin typeface="Arial"/>
                <a:ea typeface="Arial"/>
                <a:cs typeface="Arial"/>
              </a:defRPr>
            </a:pPr>
            <a:r>
              <a:rPr sz="1125" b="0">
                <a:solidFill>
                  <a:srgbClr val="5D665E"/>
                </a:solidFill>
                <a:latin typeface="Arial"/>
                <a:ea typeface="Arial"/>
                <a:cs typeface="Arial"/>
              </a:rPr>
              <a:t>Independent synthetic reference · 16 October 2026</a:t>
            </a:r>
          </a:p>
        </p:txBody>
      </p:sp>
      <p:sp>
        <p:nvSpPr>
          <p:cNvPr id="13" name="">
            <a:extLst xmlns:a="http://schemas.openxmlformats.org/drawingml/2006/main">
              <a:ext uri="{FF2B5EF4-FFF2-40B4-BE49-F238E27FC236}">
                <a16:creationId xmlns:a16="http://schemas.microsoft.com/office/drawing/2014/main" id="{09C22542-AD22-48BE-AF35-DCCF97C76AC5}"/>
              </a:ext>
            </a:extLst>
          </p:cNvPr>
          <p:cNvSpPr>
            <a:spLocks xmlns:a="http://schemas.openxmlformats.org/drawingml/2006/main" noGrp="1"/>
          </p:cNvSpPr>
          <p:nvPr/>
        </p:nvSpPr>
        <p:spPr>
          <a:xfrm xmlns:a="http://schemas.openxmlformats.org/drawingml/2006/main">
            <a:off x="10763250" y="629602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D665E"/>
                </a:solidFill>
                <a:latin typeface="Arial"/>
                <a:ea typeface="Arial"/>
                <a:cs typeface="Arial"/>
              </a:defRPr>
            </a:defPPr>
          </a:lstStyle>
          <a:p xmlns:a="http://schemas.openxmlformats.org/drawingml/2006/main">
            <a:pPr>
              <a:defRPr sz="1125" b="0">
                <a:solidFill>
                  <a:srgbClr val="5D665E"/>
                </a:solidFill>
                <a:latin typeface="Arial"/>
                <a:ea typeface="Arial"/>
                <a:cs typeface="Arial"/>
              </a:defRPr>
            </a:pPr>
            <a:r>
              <a:rPr sz="1125" b="0">
                <a:solidFill>
                  <a:srgbClr val="5D665E"/>
                </a:solidFill>
                <a:latin typeface="Arial"/>
                <a:ea typeface="Arial"/>
                <a:cs typeface="Arial"/>
              </a:rPr>
              <a:t>8 / 9</a:t>
            </a:r>
          </a:p>
        </p:txBody>
      </p:sp>
    </p:spTree>
    <p:extLst>
      <p:ext uri="{BB962C8B-B14F-4D97-AF65-F5344CB8AC3E}">
        <p14:creationId xmlns:p14="http://schemas.microsoft.com/office/powerpoint/2010/main" val="1754772524"/>
      </p:ext>
    </p:extLst>
  </p:cSld>
</p:sld>
</file>

<file path=ppt/slides/slide9.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40F662E-B0C4-456A-AC73-DF837AE56110}"/>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254C3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B1ABF7-D310-4D16-86AE-9F37438C320A}"/>
              </a:ext>
            </a:extLst>
          </p:cNvPr>
          <p:cNvSpPr>
            <a:spLocks xmlns:a="http://schemas.openxmlformats.org/drawingml/2006/main" noGrp="1"/>
          </p:cNvSpPr>
          <p:nvPr/>
        </p:nvSpPr>
        <p:spPr>
          <a:xfrm xmlns:a="http://schemas.openxmlformats.org/drawingml/2006/main">
            <a:off x="666750" y="5143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1"/>
                </a:solidFill>
                <a:latin typeface="Arial"/>
                <a:ea typeface="Arial"/>
                <a:cs typeface="Arial"/>
              </a:defRPr>
            </a:defPPr>
          </a:lstStyle>
          <a:p xmlns:a="http://schemas.openxmlformats.org/drawingml/2006/main">
            <a:pPr>
              <a:defRPr sz="3375" b="1">
                <a:solidFill>
                  <a:srgbClr val="183D31"/>
                </a:solidFill>
                <a:latin typeface="Arial"/>
                <a:ea typeface="Arial"/>
                <a:cs typeface="Arial"/>
              </a:defRPr>
            </a:pPr>
            <a:r>
              <a:rPr sz="3375" b="1">
                <a:solidFill>
                  <a:srgbClr val="183D31"/>
                </a:solidFill>
                <a:latin typeface="Arial"/>
                <a:ea typeface="Arial"/>
                <a:cs typeface="Arial"/>
              </a:rPr>
              <a:t>The remaining work is production integration</a:t>
            </a:r>
          </a:p>
        </p:txBody>
      </p:sp>
      <p:sp>
        <p:nvSpPr>
          <p:cNvPr id="3" name="">
            <a:extLst xmlns:a="http://schemas.openxmlformats.org/drawingml/2006/main">
              <a:ext uri="{FF2B5EF4-FFF2-40B4-BE49-F238E27FC236}">
                <a16:creationId xmlns:a16="http://schemas.microsoft.com/office/drawing/2014/main" id="{2DE69A18-576A-44E5-A096-A5F3AD7AA700}"/>
              </a:ext>
            </a:extLst>
          </p:cNvPr>
          <p:cNvSpPr>
            <a:spLocks xmlns:a="http://schemas.openxmlformats.org/drawingml/2006/main" noGrp="1"/>
          </p:cNvSpPr>
          <p:nvPr/>
        </p:nvSpPr>
        <p:spPr>
          <a:xfrm xmlns:a="http://schemas.openxmlformats.org/drawingml/2006/main">
            <a:off x="685800" y="17240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B5B51"/>
                </a:solidFill>
                <a:latin typeface="Arial"/>
                <a:ea typeface="Arial"/>
                <a:cs typeface="Arial"/>
              </a:defRPr>
            </a:defPPr>
          </a:lstStyle>
          <a:p xmlns:a="http://schemas.openxmlformats.org/drawingml/2006/main">
            <a:pPr>
              <a:defRPr sz="1875" b="0">
                <a:solidFill>
                  <a:srgbClr val="4B5B51"/>
                </a:solidFill>
                <a:latin typeface="Arial"/>
                <a:ea typeface="Arial"/>
                <a:cs typeface="Arial"/>
              </a:defRPr>
            </a:pPr>
            <a:r>
              <a:rPr sz="1875" b="0">
                <a:solidFill>
                  <a:srgbClr val="4B5B51"/>
                </a:solidFill>
                <a:latin typeface="Arial"/>
                <a:ea typeface="Arial"/>
                <a:cs typeface="Arial"/>
              </a:rPr>
              <a:t>This is a synthetic reference with a working cloud demonstration</a:t>
            </a:r>
          </a:p>
        </p:txBody>
      </p:sp>
      <p:sp>
        <p:nvSpPr>
          <p:cNvPr id="4" name="">
            <a:extLst xmlns:a="http://schemas.openxmlformats.org/drawingml/2006/main">
              <a:ext uri="{FF2B5EF4-FFF2-40B4-BE49-F238E27FC236}">
                <a16:creationId xmlns:a16="http://schemas.microsoft.com/office/drawing/2014/main" id="{87124FFF-BEE9-4F60-BF5B-0D3350195D64}"/>
              </a:ext>
            </a:extLst>
          </p:cNvPr>
          <p:cNvSpPr>
            <a:spLocks xmlns:a="http://schemas.openxmlformats.org/drawingml/2006/main" noGrp="1"/>
          </p:cNvSpPr>
          <p:nvPr/>
        </p:nvSpPr>
        <p:spPr>
          <a:xfrm xmlns:a="http://schemas.openxmlformats.org/drawingml/2006/main">
            <a:off x="704850" y="268605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9B94CEE-AFF7-484D-AAA5-DAB588ED1146}"/>
              </a:ext>
            </a:extLst>
          </p:cNvPr>
          <p:cNvSpPr>
            <a:spLocks xmlns:a="http://schemas.openxmlformats.org/drawingml/2006/main" noGrp="1"/>
          </p:cNvSpPr>
          <p:nvPr/>
        </p:nvSpPr>
        <p:spPr>
          <a:xfrm xmlns:a="http://schemas.openxmlformats.org/drawingml/2006/main">
            <a:off x="1428750" y="263842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Real identity, payee and product-term enrollment</a:t>
            </a:r>
          </a:p>
        </p:txBody>
      </p:sp>
      <p:sp>
        <p:nvSpPr>
          <p:cNvPr id="6" name="">
            <a:extLst xmlns:a="http://schemas.openxmlformats.org/drawingml/2006/main">
              <a:ext uri="{FF2B5EF4-FFF2-40B4-BE49-F238E27FC236}">
                <a16:creationId xmlns:a16="http://schemas.microsoft.com/office/drawing/2014/main" id="{0E4993FE-6BE5-4720-A8EE-6EEF5ABF670E}"/>
              </a:ext>
            </a:extLst>
          </p:cNvPr>
          <p:cNvSpPr>
            <a:spLocks xmlns:a="http://schemas.openxmlformats.org/drawingml/2006/main" noGrp="1"/>
          </p:cNvSpPr>
          <p:nvPr/>
        </p:nvSpPr>
        <p:spPr>
          <a:xfrm xmlns:a="http://schemas.openxmlformats.org/drawingml/2006/main">
            <a:off x="704850" y="346710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13A9377F-5164-4068-AB9C-5DE16ABA6050}"/>
              </a:ext>
            </a:extLst>
          </p:cNvPr>
          <p:cNvSpPr>
            <a:spLocks xmlns:a="http://schemas.openxmlformats.org/drawingml/2006/main" noGrp="1"/>
          </p:cNvSpPr>
          <p:nvPr/>
        </p:nvSpPr>
        <p:spPr>
          <a:xfrm xmlns:a="http://schemas.openxmlformats.org/drawingml/2006/main">
            <a:off x="1428750" y="341947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Provider, messaging, privacy and country approvals</a:t>
            </a:r>
          </a:p>
        </p:txBody>
      </p:sp>
      <p:sp>
        <p:nvSpPr>
          <p:cNvPr id="8" name="">
            <a:extLst xmlns:a="http://schemas.openxmlformats.org/drawingml/2006/main">
              <a:ext uri="{FF2B5EF4-FFF2-40B4-BE49-F238E27FC236}">
                <a16:creationId xmlns:a16="http://schemas.microsoft.com/office/drawing/2014/main" id="{D6D3183E-B3D3-4B25-B32E-D9B7DD67937B}"/>
              </a:ext>
            </a:extLst>
          </p:cNvPr>
          <p:cNvSpPr>
            <a:spLocks xmlns:a="http://schemas.openxmlformats.org/drawingml/2006/main" noGrp="1"/>
          </p:cNvSpPr>
          <p:nvPr/>
        </p:nvSpPr>
        <p:spPr>
          <a:xfrm xmlns:a="http://schemas.openxmlformats.org/drawingml/2006/main">
            <a:off x="704850" y="424815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2ED51048-1E71-4D1C-880C-77F1C3694888}"/>
              </a:ext>
            </a:extLst>
          </p:cNvPr>
          <p:cNvSpPr>
            <a:spLocks xmlns:a="http://schemas.openxmlformats.org/drawingml/2006/main" noGrp="1"/>
          </p:cNvSpPr>
          <p:nvPr/>
        </p:nvSpPr>
        <p:spPr>
          <a:xfrm xmlns:a="http://schemas.openxmlformats.org/drawingml/2006/main">
            <a:off x="1428750" y="420052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Representative language/media evaluation and retention design</a:t>
            </a:r>
          </a:p>
        </p:txBody>
      </p:sp>
      <p:sp>
        <p:nvSpPr>
          <p:cNvPr id="10" name="">
            <a:extLst xmlns:a="http://schemas.openxmlformats.org/drawingml/2006/main">
              <a:ext uri="{FF2B5EF4-FFF2-40B4-BE49-F238E27FC236}">
                <a16:creationId xmlns:a16="http://schemas.microsoft.com/office/drawing/2014/main" id="{D896A790-6240-4CB0-8BCB-6BF975356BFD}"/>
              </a:ext>
            </a:extLst>
          </p:cNvPr>
          <p:cNvSpPr>
            <a:spLocks xmlns:a="http://schemas.openxmlformats.org/drawingml/2006/main" noGrp="1"/>
          </p:cNvSpPr>
          <p:nvPr/>
        </p:nvSpPr>
        <p:spPr>
          <a:xfrm xmlns:a="http://schemas.openxmlformats.org/drawingml/2006/main">
            <a:off x="704850" y="5029200"/>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957642"/>
                </a:solidFill>
                <a:latin typeface="Arial"/>
                <a:ea typeface="Arial"/>
                <a:cs typeface="Arial"/>
              </a:defRPr>
            </a:defPPr>
          </a:lstStyle>
          <a:p xmlns:a="http://schemas.openxmlformats.org/drawingml/2006/main">
            <a:pPr>
              <a:defRPr sz="1500" b="1">
                <a:solidFill>
                  <a:srgbClr val="957642"/>
                </a:solidFill>
                <a:latin typeface="Arial"/>
                <a:ea typeface="Arial"/>
                <a:cs typeface="Arial"/>
              </a:defRPr>
            </a:pPr>
            <a:r>
              <a:rPr sz="1500" b="1">
                <a:solidFill>
                  <a:srgbClr val="957642"/>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7A449B38-7CF1-4216-944C-54E956E5265E}"/>
              </a:ext>
            </a:extLst>
          </p:cNvPr>
          <p:cNvSpPr>
            <a:spLocks xmlns:a="http://schemas.openxmlformats.org/drawingml/2006/main" noGrp="1"/>
          </p:cNvSpPr>
          <p:nvPr/>
        </p:nvSpPr>
        <p:spPr>
          <a:xfrm xmlns:a="http://schemas.openxmlformats.org/drawingml/2006/main">
            <a:off x="1428750" y="4981575"/>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23D31"/>
                </a:solidFill>
                <a:latin typeface="Arial"/>
                <a:ea typeface="Arial"/>
                <a:cs typeface="Arial"/>
              </a:defRPr>
            </a:defPPr>
          </a:lstStyle>
          <a:p xmlns:a="http://schemas.openxmlformats.org/drawingml/2006/main">
            <a:pPr>
              <a:defRPr sz="2175" b="0">
                <a:solidFill>
                  <a:srgbClr val="223D31"/>
                </a:solidFill>
                <a:latin typeface="Arial"/>
                <a:ea typeface="Arial"/>
                <a:cs typeface="Arial"/>
              </a:defRPr>
            </a:pPr>
            <a:r>
              <a:rPr sz="2175" b="0">
                <a:solidFill>
                  <a:srgbClr val="223D31"/>
                </a:solidFill>
                <a:latin typeface="Arial"/>
                <a:ea typeface="Arial"/>
                <a:cs typeface="Arial"/>
              </a:rPr>
              <a:t>Managed operations, backups and a funded availability plan</a:t>
            </a:r>
          </a:p>
        </p:txBody>
      </p:sp>
      <p:sp>
        <p:nvSpPr>
          <p:cNvPr id="12" name="">
            <a:extLst xmlns:a="http://schemas.openxmlformats.org/drawingml/2006/main">
              <a:ext uri="{FF2B5EF4-FFF2-40B4-BE49-F238E27FC236}">
                <a16:creationId xmlns:a16="http://schemas.microsoft.com/office/drawing/2014/main" id="{8C258EC6-229D-4DF3-8758-EE8C3875510F}"/>
              </a:ext>
            </a:extLst>
          </p:cNvPr>
          <p:cNvSpPr>
            <a:spLocks xmlns:a="http://schemas.openxmlformats.org/drawingml/2006/main" noGrp="1"/>
          </p:cNvSpPr>
          <p:nvPr/>
        </p:nvSpPr>
        <p:spPr>
          <a:xfrm xmlns:a="http://schemas.openxmlformats.org/drawingml/2006/main">
            <a:off x="685800" y="62960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D665E"/>
                </a:solidFill>
                <a:latin typeface="Arial"/>
                <a:ea typeface="Arial"/>
                <a:cs typeface="Arial"/>
              </a:defRPr>
            </a:defPPr>
          </a:lstStyle>
          <a:p xmlns:a="http://schemas.openxmlformats.org/drawingml/2006/main">
            <a:pPr>
              <a:defRPr sz="1125" b="0">
                <a:solidFill>
                  <a:srgbClr val="5D665E"/>
                </a:solidFill>
                <a:latin typeface="Arial"/>
                <a:ea typeface="Arial"/>
                <a:cs typeface="Arial"/>
              </a:defRPr>
            </a:pPr>
            <a:r>
              <a:rPr sz="1125" b="0">
                <a:solidFill>
                  <a:srgbClr val="5D665E"/>
                </a:solidFill>
                <a:latin typeface="Arial"/>
                <a:ea typeface="Arial"/>
                <a:cs typeface="Arial"/>
              </a:rPr>
              <a:t>Independent synthetic reference · 16 October 2026</a:t>
            </a:r>
          </a:p>
        </p:txBody>
      </p:sp>
      <p:sp>
        <p:nvSpPr>
          <p:cNvPr id="13" name="">
            <a:extLst xmlns:a="http://schemas.openxmlformats.org/drawingml/2006/main">
              <a:ext uri="{FF2B5EF4-FFF2-40B4-BE49-F238E27FC236}">
                <a16:creationId xmlns:a16="http://schemas.microsoft.com/office/drawing/2014/main" id="{518FEC2F-7EB2-4B07-ACE7-897C2A70664E}"/>
              </a:ext>
            </a:extLst>
          </p:cNvPr>
          <p:cNvSpPr>
            <a:spLocks xmlns:a="http://schemas.openxmlformats.org/drawingml/2006/main" noGrp="1"/>
          </p:cNvSpPr>
          <p:nvPr/>
        </p:nvSpPr>
        <p:spPr>
          <a:xfrm xmlns:a="http://schemas.openxmlformats.org/drawingml/2006/main">
            <a:off x="10763250" y="629602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D665E"/>
                </a:solidFill>
                <a:latin typeface="Arial"/>
                <a:ea typeface="Arial"/>
                <a:cs typeface="Arial"/>
              </a:defRPr>
            </a:defPPr>
          </a:lstStyle>
          <a:p xmlns:a="http://schemas.openxmlformats.org/drawingml/2006/main">
            <a:pPr>
              <a:defRPr sz="1125" b="0">
                <a:solidFill>
                  <a:srgbClr val="5D665E"/>
                </a:solidFill>
                <a:latin typeface="Arial"/>
                <a:ea typeface="Arial"/>
                <a:cs typeface="Arial"/>
              </a:defRPr>
            </a:pPr>
            <a:r>
              <a:rPr sz="1125" b="0">
                <a:solidFill>
                  <a:srgbClr val="5D665E"/>
                </a:solidFill>
                <a:latin typeface="Arial"/>
                <a:ea typeface="Arial"/>
                <a:cs typeface="Arial"/>
              </a:rPr>
              <a:t>9 / 9</a:t>
            </a:r>
          </a:p>
        </p:txBody>
      </p:sp>
    </p:spTree>
    <p:extLst>
      <p:ext uri="{BB962C8B-B14F-4D97-AF65-F5344CB8AC3E}">
        <p14:creationId xmlns:p14="http://schemas.microsoft.com/office/powerpoint/2010/main" val="16732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2026-10-16T09:57:25.4460000Z</dcterms:created>
  <dcterms:modified xsi:type="dcterms:W3CDTF">2026-10-16T09:57:25.4460000Z</dcterms:modified>
</coreProperties>
</file>